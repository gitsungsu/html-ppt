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tpl_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tpl_image2.png"/><Relationship Id="rId3" Type="http://schemas.openxmlformats.org/officeDocument/2006/relationships/image" Target="../media/tpl_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tpl_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tpl_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tpl_image4.png"/><Relationship Id="rId3" Type="http://schemas.openxmlformats.org/officeDocument/2006/relationships/image" Target="../media/tpl_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tpl_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1">
  <p:cSld name="Cov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43229" y="4574285"/>
            <a:ext cx="7000000" cy="452120"/>
          </a:xfrm>
        </p:spPr>
        <p:txBody>
          <a:bodyPr/>
          <a:lstStyle>
            <a:lvl1pPr algn="l">
              <a:defRPr sz="2800" b="1">
                <a:solidFill>
                  <a:srgbClr val="EA002C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687730" y="5111241"/>
            <a:ext cx="2000000" cy="239395"/>
          </a:xfrm>
        </p:spPr>
        <p:txBody>
          <a:bodyPr wrap="none"/>
          <a:lstStyle>
            <a:lvl1pPr algn="l" marL="0" indent="0">
              <a:buNone/>
              <a:defRPr sz="14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Contents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-5eaec1c6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3-3b1988fb.png" descr="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70000" y="1900000"/>
            <a:ext cx="6000000" cy="800000"/>
          </a:xfrm>
        </p:spPr>
        <p:txBody>
          <a:bodyPr/>
          <a:lstStyle>
            <a:lvl1pPr algn="l">
              <a:defRPr sz="5400" b="0">
                <a:solidFill>
                  <a:srgbClr val="EA002C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5" name="body 5"/>
          <p:cNvSpPr>
            <a:spLocks noGrp="1"/>
          </p:cNvSpPr>
          <p:nvPr>
            <p:ph type="body" idx="1"/>
          </p:nvPr>
        </p:nvSpPr>
        <p:spPr>
          <a:xfrm>
            <a:off x="847445" y="3300000"/>
            <a:ext cx="4500000" cy="2000000"/>
          </a:xfrm>
        </p:spPr>
        <p:txBody>
          <a:bodyPr/>
          <a:lstStyle>
            <a:lvl1pPr algn="l">
              <a:defRPr sz="12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  <p:sp>
        <p:nvSpPr>
          <p:cNvPr id="6" name="subTitle 6"/>
          <p:cNvSpPr>
            <a:spLocks noGrp="1"/>
          </p:cNvSpPr>
          <p:nvPr>
            <p:ph type="subTitle" idx="2"/>
          </p:nvPr>
        </p:nvSpPr>
        <p:spPr>
          <a:xfrm>
            <a:off x="4300000" y="2100000"/>
            <a:ext cx="3500000" cy="175895"/>
          </a:xfrm>
        </p:spPr>
        <p:txBody>
          <a:bodyPr wrap="none"/>
          <a:lstStyle>
            <a:lvl1pPr algn="l" marL="0" indent="0">
              <a:buNone/>
              <a:defRPr sz="950" b="1">
                <a:solidFill>
                  <a:srgbClr val="303336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1">
  <p:cSld name="Chap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-3b1988fb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391025" y="3115513"/>
            <a:ext cx="3411220" cy="840105"/>
          </a:xfrm>
        </p:spPr>
        <p:txBody>
          <a:bodyPr/>
          <a:lstStyle>
            <a:lvl1pPr algn="ctr">
              <a:defRPr sz="5350" b="1">
                <a:solidFill>
                  <a:srgbClr val="EA002C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4" name="body 4"/>
          <p:cNvSpPr>
            <a:spLocks noGrp="1"/>
          </p:cNvSpPr>
          <p:nvPr>
            <p:ph type="body" idx="1"/>
          </p:nvPr>
        </p:nvSpPr>
        <p:spPr>
          <a:xfrm>
            <a:off x="4944236" y="4068826"/>
            <a:ext cx="2281555" cy="1000000"/>
          </a:xfrm>
        </p:spPr>
        <p:txBody>
          <a:bodyPr/>
          <a:lstStyle>
            <a:lvl1pPr algn="l">
              <a:defRPr sz="1400" b="0">
                <a:solidFill>
                  <a:srgbClr val="212A3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  <p:sp>
        <p:nvSpPr>
          <p:cNvPr id="5" name="subTitle 5"/>
          <p:cNvSpPr>
            <a:spLocks noGrp="1"/>
          </p:cNvSpPr>
          <p:nvPr>
            <p:ph type="subTitle" idx="2"/>
          </p:nvPr>
        </p:nvSpPr>
        <p:spPr>
          <a:xfrm>
            <a:off x="4944236" y="1620810"/>
            <a:ext cx="2281555" cy="483234"/>
          </a:xfrm>
        </p:spPr>
        <p:txBody>
          <a:bodyPr wrap="none"/>
          <a:lstStyle>
            <a:lvl1pPr algn="ctr" marL="0" indent="0">
              <a:buNone/>
              <a:defRPr sz="950" b="1">
                <a:solidFill>
                  <a:srgbClr val="FF8566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2"/>
          <p:cNvSpPr/>
          <p:nvPr userDrawn="1"/>
        </p:nvSpPr>
        <p:spPr>
          <a:xfrm>
            <a:off x="0" y="1053083"/>
            <a:ext cx="12192000" cy="5803900"/>
          </a:xfrm>
          <a:prstGeom prst="rect">
            <a:avLst/>
          </a:prstGeom>
          <a:solidFill>
            <a:srgbClr val="F6F4EE"/>
          </a:solidFill>
          <a:ln>
            <a:noFill/>
          </a:ln>
        </p:spPr>
      </p:sp>
      <p:pic>
        <p:nvPicPr>
          <p:cNvPr id="3" name="image3-3b1988fb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593547" y="532003"/>
            <a:ext cx="11004905" cy="360680"/>
          </a:xfrm>
        </p:spPr>
        <p:txBody>
          <a:bodyPr/>
          <a:lstStyle>
            <a:lvl1pPr algn="l">
              <a:defRPr sz="2200" b="1">
                <a:solidFill>
                  <a:srgbClr val="353430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5" name="body 5"/>
          <p:cNvSpPr>
            <a:spLocks noGrp="1"/>
          </p:cNvSpPr>
          <p:nvPr>
            <p:ph type="body" idx="1"/>
          </p:nvPr>
        </p:nvSpPr>
        <p:spPr>
          <a:xfrm>
            <a:off x="593547" y="1400000"/>
            <a:ext cx="11004905" cy="4700000"/>
          </a:xfrm>
        </p:spPr>
        <p:txBody>
          <a:bodyPr/>
          <a:lstStyle>
            <a:lvl1pPr algn="l">
              <a:defRPr sz="14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1">
  <p:cSld name="Content with Lea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2"/>
          <p:cNvSpPr/>
          <p:nvPr userDrawn="1"/>
        </p:nvSpPr>
        <p:spPr>
          <a:xfrm>
            <a:off x="0" y="1053083"/>
            <a:ext cx="12192000" cy="5803900"/>
          </a:xfrm>
          <a:prstGeom prst="rect">
            <a:avLst/>
          </a:prstGeom>
          <a:solidFill>
            <a:srgbClr val="F6F4EE"/>
          </a:solidFill>
          <a:ln>
            <a:noFill/>
          </a:ln>
        </p:spPr>
      </p:sp>
      <p:pic>
        <p:nvPicPr>
          <p:cNvPr id="3" name="image34-a35650fd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24711"/>
            <a:ext cx="12190476" cy="432815"/>
          </a:xfrm>
          <a:prstGeom prst="rect">
            <a:avLst/>
          </a:prstGeom>
        </p:spPr>
      </p:pic>
      <p:pic>
        <p:nvPicPr>
          <p:cNvPr id="4" name="image3-3b1988fb.png" descr="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5" name="title 5"/>
          <p:cNvSpPr>
            <a:spLocks noGrp="1"/>
          </p:cNvSpPr>
          <p:nvPr>
            <p:ph type="title"/>
          </p:nvPr>
        </p:nvSpPr>
        <p:spPr>
          <a:xfrm>
            <a:off x="593547" y="532003"/>
            <a:ext cx="11004905" cy="360680"/>
          </a:xfrm>
        </p:spPr>
        <p:txBody>
          <a:bodyPr/>
          <a:lstStyle>
            <a:lvl1pPr algn="l">
              <a:defRPr sz="2200" b="1">
                <a:solidFill>
                  <a:srgbClr val="353430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6" name="body 6"/>
          <p:cNvSpPr>
            <a:spLocks noGrp="1"/>
          </p:cNvSpPr>
          <p:nvPr>
            <p:ph type="body" idx="1"/>
          </p:nvPr>
        </p:nvSpPr>
        <p:spPr>
          <a:xfrm>
            <a:off x="593547" y="1800000"/>
            <a:ext cx="11004905" cy="4300000"/>
          </a:xfrm>
        </p:spPr>
        <p:txBody>
          <a:bodyPr/>
          <a:lstStyle>
            <a:lvl1pPr algn="l">
              <a:defRPr sz="14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  <p:sp>
        <p:nvSpPr>
          <p:cNvPr id="7" name="subTitle 7"/>
          <p:cNvSpPr>
            <a:spLocks noGrp="1"/>
          </p:cNvSpPr>
          <p:nvPr>
            <p:ph type="subTitle" idx="2"/>
          </p:nvPr>
        </p:nvSpPr>
        <p:spPr>
          <a:xfrm>
            <a:off x="871524" y="1168399"/>
            <a:ext cx="9693275" cy="269240"/>
          </a:xfrm>
        </p:spPr>
        <p:txBody>
          <a:bodyPr wrap="none"/>
          <a:lstStyle>
            <a:lvl1pPr algn="l" marL="0" indent="0">
              <a:buNone/>
              <a:defRPr sz="1600" b="0">
                <a:solidFill>
                  <a:srgbClr val="1B1B27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1">
  <p:cSld name="Closing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>
            <a:spLocks noGrp="1"/>
          </p:cNvSpPr>
          <p:nvPr>
            <p:ph type="subTitle" idx="1"/>
          </p:nvPr>
        </p:nvSpPr>
        <p:spPr>
          <a:xfrm>
            <a:off x="720039" y="647446"/>
            <a:ext cx="4000000" cy="175895"/>
          </a:xfrm>
        </p:spPr>
        <p:txBody>
          <a:bodyPr wrap="none"/>
          <a:lstStyle>
            <a:lvl1pPr algn="l" marL="0" indent="0">
              <a:buNone/>
              <a:defRPr sz="950" b="1">
                <a:solidFill>
                  <a:srgbClr val="303336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1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EA002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 기업가치 제고(Value-up) 이행 현황</a:t>
            </a:r>
            <a:endParaRPr lang="en-US" sz="2800" dirty="0"/>
          </a:p>
        </p:txBody>
      </p:sp>
      <p:sp>
        <p:nvSpPr>
          <p:cNvPr id="3" name="hp2"/>
          <p:cNvSpPr/>
          <p:nvPr>
            <p:ph type="subTitle"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2025. 11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3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80"/>
              </a:lnSpc>
              <a:buNone/>
            </a:pPr>
            <a:r>
              <a:rPr lang="en-US" sz="5400" dirty="0">
                <a:solidFill>
                  <a:srgbClr val="EA002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5400" dirty="0"/>
          </a:p>
        </p:txBody>
      </p:sp>
      <p:sp>
        <p:nvSpPr>
          <p:cNvPr id="3" name="hp4"/>
          <p:cNvSpPr/>
          <p:nvPr>
            <p:ph type="subTitle" idx="2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3033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 기업가치 제고(Value-up) 이행 현황</a:t>
            </a:r>
            <a:endParaRPr lang="en-US" sz="950" dirty="0"/>
          </a:p>
        </p:txBody>
      </p:sp>
      <p:sp>
        <p:nvSpPr>
          <p:cNvPr id="4" name="hp5"/>
          <p:cNvSpPr/>
          <p:nvPr>
            <p:ph type="body"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지표 현황</a:t>
            </a:r>
            <a:endParaRPr lang="en-US" sz="1200" dirty="0"/>
          </a:p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이행 현황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6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20"/>
              </a:lnSpc>
              <a:buNone/>
            </a:pPr>
            <a:r>
              <a:rPr lang="en-US" sz="5350" b="1" dirty="0">
                <a:solidFill>
                  <a:srgbClr val="EA002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Overview</a:t>
            </a:r>
            <a:endParaRPr lang="en-US" sz="5350" dirty="0"/>
          </a:p>
        </p:txBody>
      </p:sp>
      <p:sp>
        <p:nvSpPr>
          <p:cNvPr id="3" name="hp7"/>
          <p:cNvSpPr/>
          <p:nvPr>
            <p:ph type="subTitle" idx="2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856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CHAPTER 01</a:t>
            </a:r>
            <a:endParaRPr lang="en-US" sz="950" dirty="0"/>
          </a:p>
        </p:txBody>
      </p:sp>
      <p:sp>
        <p:nvSpPr>
          <p:cNvPr id="4" name="hp8"/>
          <p:cNvSpPr/>
          <p:nvPr>
            <p:ph type="body"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20"/>
              </a:lnSpc>
            </a:pPr>
            <a:r>
              <a:rPr lang="en-US" sz="1400" dirty="0">
                <a:solidFill>
                  <a:srgbClr val="212A3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지표 현황</a:t>
            </a:r>
            <a:endParaRPr lang="en-US" sz="1400" dirty="0"/>
          </a:p>
          <a:p>
            <a:pPr algn="l">
              <a:lnSpc>
                <a:spcPts val="1820"/>
              </a:lnSpc>
            </a:pPr>
            <a:r>
              <a:rPr lang="en-US" sz="1400" dirty="0">
                <a:solidFill>
                  <a:srgbClr val="212A3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이행 현황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9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35343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이행 현황</a:t>
            </a:r>
            <a:endParaRPr lang="en-US" sz="2200" dirty="0"/>
          </a:p>
        </p:txBody>
      </p:sp>
      <p:sp>
        <p:nvSpPr>
          <p:cNvPr id="3" name="hp10"/>
          <p:cNvSpPr/>
          <p:nvPr>
            <p:ph type="subTitle" idx="2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11월 중장기 기업가치 제고 계획을 발표하고 지속적으로 이행하고 있습니다.</a:t>
            </a:r>
            <a:endParaRPr lang="en-US" sz="1600" dirty="0"/>
          </a:p>
        </p:txBody>
      </p:sp>
      <p:sp>
        <p:nvSpPr>
          <p:cNvPr id="4" name="hp11"/>
          <p:cNvSpPr/>
          <p:nvPr>
            <p:ph type="body"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20"/>
              </a:lnSpc>
            </a:pPr>
            <a:r>
              <a:rPr lang="en-US" sz="14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기업가치 제고 목표 항목 한 줄</a:t>
            </a:r>
            <a:endParaRPr lang="en-US" sz="1400" dirty="0"/>
          </a:p>
          <a:p>
            <a:pPr algn="l">
              <a:lnSpc>
                <a:spcPts val="1820"/>
              </a:lnSpc>
            </a:pPr>
            <a:r>
              <a:rPr lang="en-US" sz="14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기업가치 제고 목표 항목 두 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12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35343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지표 현황</a:t>
            </a:r>
            <a:endParaRPr lang="en-US" sz="2200" dirty="0"/>
          </a:p>
        </p:txBody>
      </p:sp>
      <p:sp>
        <p:nvSpPr>
          <p:cNvPr id="3" name="hp13"/>
          <p:cNvSpPr/>
          <p:nvPr>
            <p:ph type="body"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20"/>
              </a:lnSpc>
            </a:pPr>
            <a:r>
              <a:rPr lang="en-US" sz="14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 항목 하나</a:t>
            </a:r>
            <a:endParaRPr lang="en-US" sz="1400" dirty="0"/>
          </a:p>
          <a:p>
            <a:pPr algn="l">
              <a:lnSpc>
                <a:spcPts val="1820"/>
              </a:lnSpc>
            </a:pPr>
            <a:r>
              <a:rPr lang="en-US" sz="1400" dirty="0">
                <a:solidFill>
                  <a:srgbClr val="25252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 항목 둘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14"/>
          <p:cNvSpPr/>
          <p:nvPr>
            <p:ph type="subTitle"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3033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 기업가치 제고(Value-up) 이행 현황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K hynix">
      <a:dk1>
        <a:srgbClr val="212A35"/>
      </a:dk1>
      <a:lt1>
        <a:srgbClr val="FFFFFF"/>
      </a:lt1>
      <a:dk2>
        <a:srgbClr val="1F497D"/>
      </a:dk2>
      <a:lt2>
        <a:srgbClr val="F6F4EE"/>
      </a:lt2>
      <a:accent1>
        <a:srgbClr val="EA002C"/>
      </a:accent1>
      <a:accent2>
        <a:srgbClr val="E2173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K hynix">
      <a:majorFont>
        <a:latin typeface="나눔고딕"/>
        <a:ea typeface="나눔고딕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나눔고딕"/>
        <a:ea typeface="나눔고딕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2026-10-23T12:21:10Z</dcterms:created>
  <dcterms:modified xsi:type="dcterms:W3CDTF">2026-10-23T12:21:10Z</dcterms:modified>
</cp:coreProperties>
</file>