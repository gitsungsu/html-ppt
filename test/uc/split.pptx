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단일 파일, 외부 의존성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KPI: 추세선은 SVG, 도넛과 미터는 SVG·CSS.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추이: 기간 토글과 호버 툴팁(십자선 포함)을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스택: 막대 위 숫자는 합계, 표는 같은 배열에서 생성됩니다.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현재 단계는 파란 테두리, 완료 단계는 초록 테두리.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명령: 스크립트 경로는 프로젝트 기준 상대 경로입니다.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캔버스: 같은 시드로 항상 같은 배치에서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구조, 데이터, 변환 세 관점으로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70" y="1854312"/>
            <a:ext cx="300499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HTML · SLIDE SHOWCASE</a:t>
            </a:r>
            <a:endParaRPr lang="en-US" sz="1125" dirty="0"/>
          </a:p>
        </p:txBody>
      </p:sp>
      <p:sp>
        <p:nvSpPr>
          <p:cNvPr id="5" name="hp2"/>
          <p:cNvSpPr/>
          <p:nvPr/>
        </p:nvSpPr>
        <p:spPr>
          <a:xfrm>
            <a:off x="761970" y="2318187"/>
            <a:ext cx="6134070" cy="13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HTML로 만든</a:t>
            </a:r>
            <a:endParaRPr lang="en-US" sz="42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gradFill rotWithShape="1">
                  <a:gsLst>
                    <a:gs pos="0">
                      <a:srgbClr val="3987E5"/>
                    </a:gs>
                    <a:gs pos="72373">
                      <a:srgbClr val="199E7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프레젠테이션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61970" y="3785799"/>
            <a:ext cx="6134070" cy="586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카드, 라인·스택 차트, 표, 타임라인, 코드 패널, 캔버스 애니메이</a:t>
            </a:r>
            <a:endParaRPr lang="en-US" sz="1575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션을 외부 라이브러리 없이 한 파일에 담았습니다.</a:t>
            </a:r>
            <a:endParaRPr lang="en-US" sz="1575" dirty="0"/>
          </a:p>
        </p:txBody>
      </p:sp>
      <p:sp>
        <p:nvSpPr>
          <p:cNvPr id="7" name="Shape 3"/>
          <p:cNvSpPr/>
          <p:nvPr/>
        </p:nvSpPr>
        <p:spPr>
          <a:xfrm>
            <a:off x="761970" y="4632990"/>
            <a:ext cx="1474470" cy="361920"/>
          </a:xfrm>
          <a:prstGeom prst="roundRect">
            <a:avLst>
              <a:gd name="adj" fmla="val 50004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23910" y="4717024"/>
            <a:ext cx="11505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× 720 · 16:9</a:t>
            </a:r>
            <a:endParaRPr lang="en-US" sz="1125" dirty="0"/>
          </a:p>
        </p:txBody>
      </p:sp>
      <p:sp>
        <p:nvSpPr>
          <p:cNvPr id="9" name="Shape 5"/>
          <p:cNvSpPr/>
          <p:nvPr/>
        </p:nvSpPr>
        <p:spPr>
          <a:xfrm>
            <a:off x="2331720" y="4632990"/>
            <a:ext cx="1024402" cy="361920"/>
          </a:xfrm>
          <a:prstGeom prst="roundRect">
            <a:avLst>
              <a:gd name="adj" fmla="val 50004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93660" y="4717024"/>
            <a:ext cx="70052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슬라이드</a:t>
            </a:r>
            <a:endParaRPr lang="en-US" sz="1125" dirty="0"/>
          </a:p>
        </p:txBody>
      </p:sp>
      <p:sp>
        <p:nvSpPr>
          <p:cNvPr id="11" name="Shape 7"/>
          <p:cNvSpPr/>
          <p:nvPr/>
        </p:nvSpPr>
        <p:spPr>
          <a:xfrm>
            <a:off x="3451311" y="4632990"/>
            <a:ext cx="1648846" cy="361920"/>
          </a:xfrm>
          <a:prstGeom prst="roundRect">
            <a:avLst>
              <a:gd name="adj" fmla="val 50004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13252" y="4717024"/>
            <a:ext cx="132505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7524780" y="1524030"/>
            <a:ext cx="3810030" cy="3810030"/>
          </a:xfrm>
          <a:custGeom>
            <a:avLst/>
            <a:gdLst/>
            <a:ahLst/>
            <a:cxnLst/>
            <a:rect l="l" t="t" r="r" b="b"/>
            <a:pathLst>
              <a:path w="3810030" h="3810030">
                <a:moveTo>
                  <a:pt x="3810030" y="1904970"/>
                </a:moveTo>
                <a:cubicBezTo>
                  <a:pt x="3810030" y="2957170"/>
                  <a:pt x="2957170" y="3810030"/>
                  <a:pt x="1904970" y="3810030"/>
                </a:cubicBezTo>
                <a:cubicBezTo>
                  <a:pt x="852861" y="3810030"/>
                  <a:pt x="0" y="2957170"/>
                  <a:pt x="0" y="1904970"/>
                </a:cubicBezTo>
                <a:cubicBezTo>
                  <a:pt x="0" y="852861"/>
                  <a:pt x="852861" y="0"/>
                  <a:pt x="1904970" y="0"/>
                </a:cubicBezTo>
                <a:cubicBezTo>
                  <a:pt x="2957170" y="0"/>
                  <a:pt x="3810030" y="852861"/>
                  <a:pt x="3810030" y="190497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05720" y="1904970"/>
            <a:ext cx="3047970" cy="3047970"/>
          </a:xfrm>
          <a:custGeom>
            <a:avLst/>
            <a:gdLst/>
            <a:ahLst/>
            <a:cxnLst/>
            <a:rect l="l" t="t" r="r" b="b"/>
            <a:pathLst>
              <a:path w="3047970" h="3047970">
                <a:moveTo>
                  <a:pt x="3047970" y="1524030"/>
                </a:moveTo>
                <a:cubicBezTo>
                  <a:pt x="3047970" y="2365736"/>
                  <a:pt x="2365736" y="3047970"/>
                  <a:pt x="1524030" y="3047970"/>
                </a:cubicBezTo>
                <a:cubicBezTo>
                  <a:pt x="682325" y="3047970"/>
                  <a:pt x="0" y="2365736"/>
                  <a:pt x="0" y="1524030"/>
                </a:cubicBezTo>
                <a:cubicBezTo>
                  <a:pt x="0" y="682325"/>
                  <a:pt x="682325" y="0"/>
                  <a:pt x="1524030" y="0"/>
                </a:cubicBezTo>
                <a:cubicBezTo>
                  <a:pt x="2365736" y="0"/>
                  <a:pt x="3047970" y="682325"/>
                  <a:pt x="3047970" y="152403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2030" y="2381280"/>
            <a:ext cx="2095530" cy="2095530"/>
          </a:xfrm>
          <a:custGeom>
            <a:avLst/>
            <a:gdLst/>
            <a:ahLst/>
            <a:cxnLst/>
            <a:rect l="l" t="t" r="r" b="b"/>
            <a:pathLst>
              <a:path w="2095530" h="2095530">
                <a:moveTo>
                  <a:pt x="2095530" y="1047720"/>
                </a:moveTo>
                <a:cubicBezTo>
                  <a:pt x="2095530" y="1626443"/>
                  <a:pt x="1626443" y="2095530"/>
                  <a:pt x="1047720" y="2095530"/>
                </a:cubicBezTo>
                <a:cubicBezTo>
                  <a:pt x="469087" y="2095530"/>
                  <a:pt x="0" y="1626443"/>
                  <a:pt x="0" y="1047720"/>
                </a:cubicBezTo>
                <a:cubicBezTo>
                  <a:pt x="0" y="469087"/>
                  <a:pt x="469087" y="0"/>
                  <a:pt x="1047720" y="0"/>
                </a:cubicBezTo>
                <a:cubicBezTo>
                  <a:pt x="1626443" y="0"/>
                  <a:pt x="2095530" y="469087"/>
                  <a:pt x="2095530" y="104772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58250" y="2857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solidFill>
            <a:srgbClr val="3987E5">
              <a:alpha val="18000"/>
            </a:srgbClr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68379" y="3270443"/>
            <a:ext cx="7228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982310" y="23812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3987E5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382280" y="333372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D95926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34470" y="18097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199E70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58221" y="441006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C98500"/>
          </a:solidFill>
          <a:ln w="19050">
            <a:solidFill>
              <a:srgbClr val="1A1A1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6131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· 샘플 데이터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38308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한눈에 보기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41649" y="1037753"/>
            <a:ext cx="2988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 변화 · 추세선은 최근 12개월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2524110" cy="2263963"/>
          </a:xfrm>
          <a:prstGeom prst="roundRect">
            <a:avLst>
              <a:gd name="adj" fmla="val 673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71" y="175107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00171" y="2072488"/>
            <a:ext cx="141210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1.28M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1000171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5.8%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3427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3427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975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6640" y="1535918"/>
            <a:ext cx="2524110" cy="2263963"/>
          </a:xfrm>
          <a:prstGeom prst="roundRect">
            <a:avLst>
              <a:gd name="adj" fmla="val 673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3714750" y="2072488"/>
            <a:ext cx="154369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₩6.9억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3714750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6.2%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374885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74885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433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220" y="1535918"/>
            <a:ext cx="2524110" cy="2263963"/>
          </a:xfrm>
          <a:prstGeom prst="roundRect">
            <a:avLst>
              <a:gd name="adj" fmla="val 673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9421" y="1751076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6429421" y="2072488"/>
            <a:ext cx="164573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99.92%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6429421" y="2640239"/>
            <a:ext cx="154762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0.03%p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646352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6352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900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05890" y="1535918"/>
            <a:ext cx="2524110" cy="2263963"/>
          </a:xfrm>
          <a:prstGeom prst="roundRect">
            <a:avLst>
              <a:gd name="adj" fmla="val 673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0" y="1751076"/>
            <a:ext cx="10853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시간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9144000" y="2072488"/>
            <a:ext cx="148782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182ms</a:t>
            </a:r>
            <a:endParaRPr lang="en-US" sz="3750" dirty="0"/>
          </a:p>
        </p:txBody>
      </p:sp>
      <p:sp>
        <p:nvSpPr>
          <p:cNvPr id="30" name="Text 27"/>
          <p:cNvSpPr/>
          <p:nvPr/>
        </p:nvSpPr>
        <p:spPr>
          <a:xfrm>
            <a:off x="9144000" y="2640239"/>
            <a:ext cx="101169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11ms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917810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17810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2358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1970" y="4028481"/>
            <a:ext cx="4190970" cy="2296150"/>
          </a:xfrm>
          <a:prstGeom prst="roundRect">
            <a:avLst>
              <a:gd name="adj" fmla="val 6637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43000" y="460501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ln w="152400">
            <a:solidFill>
              <a:srgbClr val="184F9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53241" y="4605010"/>
            <a:ext cx="1132759" cy="1143000"/>
          </a:xfrm>
          <a:custGeom>
            <a:avLst/>
            <a:gdLst/>
            <a:ahLst/>
            <a:cxnLst/>
            <a:rect l="l" t="t" r="r" b="b"/>
            <a:pathLst>
              <a:path w="1132759" h="1143000">
                <a:moveTo>
                  <a:pt x="561259" y="0"/>
                </a:moveTo>
                <a:lnTo>
                  <a:pt x="600395" y="1280"/>
                </a:lnTo>
                <a:lnTo>
                  <a:pt x="638800" y="5212"/>
                </a:lnTo>
                <a:lnTo>
                  <a:pt x="676473" y="11613"/>
                </a:lnTo>
                <a:lnTo>
                  <a:pt x="713232" y="20391"/>
                </a:lnTo>
                <a:lnTo>
                  <a:pt x="748985" y="31547"/>
                </a:lnTo>
                <a:lnTo>
                  <a:pt x="783732" y="44897"/>
                </a:lnTo>
                <a:lnTo>
                  <a:pt x="817382" y="60442"/>
                </a:lnTo>
                <a:lnTo>
                  <a:pt x="849752" y="77998"/>
                </a:lnTo>
                <a:lnTo>
                  <a:pt x="880842" y="97566"/>
                </a:lnTo>
                <a:lnTo>
                  <a:pt x="910468" y="119055"/>
                </a:lnTo>
                <a:lnTo>
                  <a:pt x="938723" y="142372"/>
                </a:lnTo>
                <a:lnTo>
                  <a:pt x="965424" y="167427"/>
                </a:lnTo>
                <a:lnTo>
                  <a:pt x="990387" y="194036"/>
                </a:lnTo>
                <a:lnTo>
                  <a:pt x="1013704" y="222291"/>
                </a:lnTo>
                <a:lnTo>
                  <a:pt x="1035192" y="252009"/>
                </a:lnTo>
                <a:lnTo>
                  <a:pt x="1054760" y="283007"/>
                </a:lnTo>
                <a:lnTo>
                  <a:pt x="1072317" y="315468"/>
                </a:lnTo>
                <a:lnTo>
                  <a:pt x="1087862" y="349026"/>
                </a:lnTo>
                <a:lnTo>
                  <a:pt x="1101212" y="383774"/>
                </a:lnTo>
                <a:lnTo>
                  <a:pt x="1112368" y="419527"/>
                </a:lnTo>
                <a:lnTo>
                  <a:pt x="1121146" y="456286"/>
                </a:lnTo>
                <a:lnTo>
                  <a:pt x="1127547" y="493959"/>
                </a:lnTo>
                <a:lnTo>
                  <a:pt x="1131479" y="532364"/>
                </a:lnTo>
                <a:lnTo>
                  <a:pt x="1132759" y="571500"/>
                </a:lnTo>
                <a:lnTo>
                  <a:pt x="1131479" y="610636"/>
                </a:lnTo>
                <a:lnTo>
                  <a:pt x="1127547" y="649041"/>
                </a:lnTo>
                <a:lnTo>
                  <a:pt x="1121146" y="686714"/>
                </a:lnTo>
                <a:lnTo>
                  <a:pt x="1112368" y="723473"/>
                </a:lnTo>
                <a:lnTo>
                  <a:pt x="1101212" y="759226"/>
                </a:lnTo>
                <a:lnTo>
                  <a:pt x="1087862" y="793974"/>
                </a:lnTo>
                <a:lnTo>
                  <a:pt x="1072317" y="827532"/>
                </a:lnTo>
                <a:lnTo>
                  <a:pt x="1054760" y="859993"/>
                </a:lnTo>
                <a:lnTo>
                  <a:pt x="1035192" y="890991"/>
                </a:lnTo>
                <a:lnTo>
                  <a:pt x="1013704" y="920709"/>
                </a:lnTo>
                <a:lnTo>
                  <a:pt x="990387" y="948964"/>
                </a:lnTo>
                <a:lnTo>
                  <a:pt x="965424" y="975573"/>
                </a:lnTo>
                <a:lnTo>
                  <a:pt x="938723" y="1000628"/>
                </a:lnTo>
                <a:lnTo>
                  <a:pt x="910468" y="1023945"/>
                </a:lnTo>
                <a:lnTo>
                  <a:pt x="880842" y="1045434"/>
                </a:lnTo>
                <a:lnTo>
                  <a:pt x="849752" y="1065002"/>
                </a:lnTo>
                <a:lnTo>
                  <a:pt x="817382" y="1082558"/>
                </a:lnTo>
                <a:lnTo>
                  <a:pt x="783732" y="1098103"/>
                </a:lnTo>
                <a:lnTo>
                  <a:pt x="748985" y="1111453"/>
                </a:lnTo>
                <a:lnTo>
                  <a:pt x="713232" y="1122609"/>
                </a:lnTo>
                <a:lnTo>
                  <a:pt x="676473" y="1131387"/>
                </a:lnTo>
                <a:lnTo>
                  <a:pt x="638800" y="1137788"/>
                </a:lnTo>
                <a:lnTo>
                  <a:pt x="600395" y="1141720"/>
                </a:lnTo>
                <a:lnTo>
                  <a:pt x="561259" y="1143000"/>
                </a:lnTo>
                <a:lnTo>
                  <a:pt x="522122" y="1141720"/>
                </a:lnTo>
                <a:lnTo>
                  <a:pt x="483718" y="1137788"/>
                </a:lnTo>
                <a:lnTo>
                  <a:pt x="446136" y="1131387"/>
                </a:lnTo>
                <a:lnTo>
                  <a:pt x="409377" y="1122609"/>
                </a:lnTo>
                <a:lnTo>
                  <a:pt x="373532" y="1111453"/>
                </a:lnTo>
                <a:lnTo>
                  <a:pt x="338785" y="1098103"/>
                </a:lnTo>
                <a:lnTo>
                  <a:pt x="305227" y="1082558"/>
                </a:lnTo>
                <a:lnTo>
                  <a:pt x="272857" y="1065002"/>
                </a:lnTo>
                <a:lnTo>
                  <a:pt x="241767" y="1045434"/>
                </a:lnTo>
                <a:lnTo>
                  <a:pt x="212049" y="1023945"/>
                </a:lnTo>
                <a:lnTo>
                  <a:pt x="183794" y="1000628"/>
                </a:lnTo>
                <a:lnTo>
                  <a:pt x="157185" y="975573"/>
                </a:lnTo>
                <a:lnTo>
                  <a:pt x="132131" y="948964"/>
                </a:lnTo>
                <a:lnTo>
                  <a:pt x="108814" y="920709"/>
                </a:lnTo>
                <a:lnTo>
                  <a:pt x="87417" y="890991"/>
                </a:lnTo>
                <a:lnTo>
                  <a:pt x="67848" y="859993"/>
                </a:lnTo>
                <a:lnTo>
                  <a:pt x="50201" y="827532"/>
                </a:lnTo>
                <a:lnTo>
                  <a:pt x="34656" y="793974"/>
                </a:lnTo>
                <a:lnTo>
                  <a:pt x="21306" y="759226"/>
                </a:lnTo>
                <a:lnTo>
                  <a:pt x="10150" y="723473"/>
                </a:lnTo>
                <a:lnTo>
                  <a:pt x="1372" y="686714"/>
                </a:lnTo>
                <a:lnTo>
                  <a:pt x="0" y="678485"/>
                </a:lnTo>
              </a:path>
            </a:pathLst>
          </a:custGeom>
          <a:ln w="152400">
            <a:solidFill>
              <a:srgbClr val="3987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5560" y="4683923"/>
            <a:ext cx="162818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분기 목표 달성률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2695560" y="4939772"/>
            <a:ext cx="8527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3300" dirty="0"/>
          </a:p>
        </p:txBody>
      </p:sp>
      <p:sp>
        <p:nvSpPr>
          <p:cNvPr id="39" name="Text 36"/>
          <p:cNvSpPr/>
          <p:nvPr/>
        </p:nvSpPr>
        <p:spPr>
          <a:xfrm>
            <a:off x="2695560" y="5395783"/>
            <a:ext cx="1854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4.5억 · 실적 3.24억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143500" y="4028481"/>
            <a:ext cx="6286500" cy="2296150"/>
          </a:xfrm>
          <a:prstGeom prst="roundRect">
            <a:avLst>
              <a:gd name="adj" fmla="val 6637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81610" y="4504334"/>
            <a:ext cx="140927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예산 집행률</a:t>
            </a:r>
            <a:endParaRPr lang="en-US" sz="1275" dirty="0"/>
          </a:p>
        </p:txBody>
      </p:sp>
      <p:sp>
        <p:nvSpPr>
          <p:cNvPr id="42" name="Text 39"/>
          <p:cNvSpPr/>
          <p:nvPr/>
        </p:nvSpPr>
        <p:spPr>
          <a:xfrm>
            <a:off x="5381610" y="4898807"/>
            <a:ext cx="51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391290" y="4959066"/>
            <a:ext cx="4038630" cy="95280"/>
          </a:xfrm>
          <a:prstGeom prst="roundRect">
            <a:avLst>
              <a:gd name="adj" fmla="val 49984"/>
            </a:avLst>
          </a:prstGeom>
          <a:solidFill>
            <a:srgbClr val="184F95"/>
          </a:solidFill>
          <a:ln/>
        </p:spPr>
      </p:sp>
      <p:sp>
        <p:nvSpPr>
          <p:cNvPr id="44" name="Shape 41"/>
          <p:cNvSpPr/>
          <p:nvPr/>
        </p:nvSpPr>
        <p:spPr>
          <a:xfrm>
            <a:off x="6391290" y="4959066"/>
            <a:ext cx="2584734" cy="95280"/>
          </a:xfrm>
          <a:prstGeom prst="roundRect">
            <a:avLst>
              <a:gd name="adj" fmla="val 49984"/>
            </a:avLst>
          </a:prstGeom>
          <a:solidFill>
            <a:srgbClr val="3987E5"/>
          </a:solidFill>
          <a:ln/>
        </p:spPr>
      </p:sp>
      <p:sp>
        <p:nvSpPr>
          <p:cNvPr id="45" name="Text 42"/>
          <p:cNvSpPr/>
          <p:nvPr/>
        </p:nvSpPr>
        <p:spPr>
          <a:xfrm>
            <a:off x="10582260" y="489880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5381610" y="5260818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391290" y="5321076"/>
            <a:ext cx="4038630" cy="95280"/>
          </a:xfrm>
          <a:prstGeom prst="roundRect">
            <a:avLst>
              <a:gd name="adj" fmla="val 49984"/>
            </a:avLst>
          </a:prstGeom>
          <a:solidFill>
            <a:srgbClr val="184F95"/>
          </a:solidFill>
          <a:ln/>
        </p:spPr>
      </p:sp>
      <p:sp>
        <p:nvSpPr>
          <p:cNvPr id="48" name="Shape 45"/>
          <p:cNvSpPr/>
          <p:nvPr/>
        </p:nvSpPr>
        <p:spPr>
          <a:xfrm>
            <a:off x="6391290" y="5321076"/>
            <a:ext cx="3553907" cy="95280"/>
          </a:xfrm>
          <a:prstGeom prst="roundRect">
            <a:avLst>
              <a:gd name="adj" fmla="val 49984"/>
            </a:avLst>
          </a:prstGeom>
          <a:solidFill>
            <a:srgbClr val="3987E5"/>
          </a:solidFill>
          <a:ln/>
        </p:spPr>
      </p:sp>
      <p:sp>
        <p:nvSpPr>
          <p:cNvPr id="49" name="Text 46"/>
          <p:cNvSpPr/>
          <p:nvPr/>
        </p:nvSpPr>
        <p:spPr>
          <a:xfrm>
            <a:off x="10582260" y="5260818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5381610" y="5622737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391290" y="5682996"/>
            <a:ext cx="4038630" cy="95280"/>
          </a:xfrm>
          <a:prstGeom prst="roundRect">
            <a:avLst>
              <a:gd name="adj" fmla="val 49984"/>
            </a:avLst>
          </a:prstGeom>
          <a:solidFill>
            <a:srgbClr val="184F95"/>
          </a:solidFill>
          <a:ln/>
        </p:spPr>
      </p:sp>
      <p:sp>
        <p:nvSpPr>
          <p:cNvPr id="52" name="Shape 49"/>
          <p:cNvSpPr/>
          <p:nvPr/>
        </p:nvSpPr>
        <p:spPr>
          <a:xfrm>
            <a:off x="6391290" y="5682996"/>
            <a:ext cx="2059595" cy="95280"/>
          </a:xfrm>
          <a:prstGeom prst="roundRect">
            <a:avLst>
              <a:gd name="adj" fmla="val 49984"/>
            </a:avLst>
          </a:prstGeom>
          <a:solidFill>
            <a:srgbClr val="3987E5"/>
          </a:solidFill>
          <a:ln/>
        </p:spPr>
      </p:sp>
      <p:sp>
        <p:nvSpPr>
          <p:cNvPr id="53" name="Text 50"/>
          <p:cNvSpPr/>
          <p:nvPr/>
        </p:nvSpPr>
        <p:spPr>
          <a:xfrm>
            <a:off x="10582260" y="562273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51%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261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· 2026 연간 (샘플)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043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추이 — 두 시리즈, 한 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6816" y="859627"/>
            <a:ext cx="1613184" cy="447690"/>
          </a:xfrm>
          <a:prstGeom prst="roundRect">
            <a:avLst>
              <a:gd name="adj" fmla="val 2553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16886" y="982797"/>
            <a:ext cx="388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596159" y="907268"/>
            <a:ext cx="786293" cy="352410"/>
          </a:xfrm>
          <a:prstGeom prst="roundRect">
            <a:avLst>
              <a:gd name="adj" fmla="val 21623"/>
            </a:avLst>
          </a:prstGeom>
          <a:solidFill>
            <a:srgbClr val="242422"/>
          </a:solidFill>
          <a:ln/>
        </p:spPr>
      </p:sp>
      <p:sp>
        <p:nvSpPr>
          <p:cNvPr id="8" name="Text 5"/>
          <p:cNvSpPr/>
          <p:nvPr/>
        </p:nvSpPr>
        <p:spPr>
          <a:xfrm>
            <a:off x="10748498" y="982797"/>
            <a:ext cx="48143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970" y="1535918"/>
            <a:ext cx="6400800" cy="4788713"/>
          </a:xfrm>
          <a:prstGeom prst="roundRect">
            <a:avLst>
              <a:gd name="adj" fmla="val 318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119064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724010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95926"/>
          </a:solidFill>
          <a:ln/>
        </p:spPr>
      </p:sp>
      <p:sp>
        <p:nvSpPr>
          <p:cNvPr id="13" name="Text 10"/>
          <p:cNvSpPr/>
          <p:nvPr/>
        </p:nvSpPr>
        <p:spPr>
          <a:xfrm>
            <a:off x="1914571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6221486" y="1767535"/>
            <a:ext cx="70317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00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81511" y="5217749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3838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2919" y="5119817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1481511" y="4477177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2919" y="4379244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481511" y="3736604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2919" y="3638763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481511" y="2996032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22919" y="2898191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1481511" y="2255550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2919" y="2157618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1342979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179067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223836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268605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313383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58152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402921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447690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4924593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5336621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578431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623200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1481511" y="2662824"/>
            <a:ext cx="4924684" cy="2554925"/>
          </a:xfrm>
          <a:custGeom>
            <a:avLst/>
            <a:gdLst/>
            <a:ahLst/>
            <a:cxnLst/>
            <a:rect l="l" t="t" r="r" b="b"/>
            <a:pathLst>
              <a:path w="4924684" h="2554925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  <a:lnTo>
                  <a:pt x="4924684" y="2554925"/>
                </a:lnTo>
                <a:lnTo>
                  <a:pt x="0" y="2554925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481511" y="3847704"/>
            <a:ext cx="4924684" cy="407274"/>
          </a:xfrm>
          <a:custGeom>
            <a:avLst/>
            <a:gdLst/>
            <a:ahLst/>
            <a:cxnLst/>
            <a:rect l="l" t="t" r="r" b="b"/>
            <a:pathLst>
              <a:path w="4924684" h="407274">
                <a:moveTo>
                  <a:pt x="0" y="407274"/>
                </a:moveTo>
                <a:lnTo>
                  <a:pt x="448056" y="370241"/>
                </a:lnTo>
                <a:lnTo>
                  <a:pt x="895106" y="333207"/>
                </a:lnTo>
                <a:lnTo>
                  <a:pt x="1343162" y="296266"/>
                </a:lnTo>
                <a:lnTo>
                  <a:pt x="1791218" y="222199"/>
                </a:lnTo>
                <a:lnTo>
                  <a:pt x="2238360" y="259232"/>
                </a:lnTo>
                <a:lnTo>
                  <a:pt x="2686324" y="148133"/>
                </a:lnTo>
                <a:lnTo>
                  <a:pt x="3133466" y="111100"/>
                </a:lnTo>
                <a:lnTo>
                  <a:pt x="3581522" y="185166"/>
                </a:lnTo>
                <a:lnTo>
                  <a:pt x="4029578" y="74066"/>
                </a:lnTo>
                <a:lnTo>
                  <a:pt x="4476628" y="370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D959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1511" y="2662824"/>
            <a:ext cx="4924684" cy="1407079"/>
          </a:xfrm>
          <a:custGeom>
            <a:avLst/>
            <a:gdLst/>
            <a:ahLst/>
            <a:cxnLst/>
            <a:rect l="l" t="t" r="r" b="b"/>
            <a:pathLst>
              <a:path w="4924684" h="1407079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3987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69162" y="262579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3987E5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7295" y="2556571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093" dirty="0"/>
          </a:p>
        </p:txBody>
      </p:sp>
      <p:sp>
        <p:nvSpPr>
          <p:cNvPr id="43" name="Shape 40"/>
          <p:cNvSpPr/>
          <p:nvPr/>
        </p:nvSpPr>
        <p:spPr>
          <a:xfrm>
            <a:off x="6369162" y="381067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D95926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7295" y="3741450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</a:t>
            </a:r>
            <a:endParaRPr lang="en-US" sz="1093" dirty="0"/>
          </a:p>
        </p:txBody>
      </p:sp>
      <p:sp>
        <p:nvSpPr>
          <p:cNvPr id="45" name="Shape 42"/>
          <p:cNvSpPr/>
          <p:nvPr/>
        </p:nvSpPr>
        <p:spPr>
          <a:xfrm>
            <a:off x="1481511" y="2255550"/>
            <a:ext cx="4924684" cy="2962199"/>
          </a:xfrm>
          <a:prstGeom prst="rect">
            <a:avLst/>
          </a:prstGeom>
          <a:ln/>
        </p:spPr>
      </p:sp>
      <p:sp>
        <p:nvSpPr>
          <p:cNvPr id="46" name="Shape 43"/>
          <p:cNvSpPr/>
          <p:nvPr/>
        </p:nvSpPr>
        <p:spPr>
          <a:xfrm>
            <a:off x="7429500" y="1535918"/>
            <a:ext cx="4000500" cy="4788713"/>
          </a:xfrm>
          <a:prstGeom prst="roundRect">
            <a:avLst>
              <a:gd name="adj" fmla="val 38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7610" y="1752356"/>
            <a:ext cx="107762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요약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67610" y="239600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49" name="Text 46"/>
          <p:cNvSpPr/>
          <p:nvPr/>
        </p:nvSpPr>
        <p:spPr>
          <a:xfrm>
            <a:off x="7743871" y="2150303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382488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1" name="Text 48"/>
          <p:cNvSpPr/>
          <p:nvPr/>
        </p:nvSpPr>
        <p:spPr>
          <a:xfrm>
            <a:off x="8458657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984620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3" name="Text 50"/>
          <p:cNvSpPr/>
          <p:nvPr/>
        </p:nvSpPr>
        <p:spPr>
          <a:xfrm>
            <a:off x="9060790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586752" y="239600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5" name="Text 52"/>
          <p:cNvSpPr/>
          <p:nvPr/>
        </p:nvSpPr>
        <p:spPr>
          <a:xfrm>
            <a:off x="9662922" y="2150303"/>
            <a:ext cx="14527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667610" y="28532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7" name="Text 54"/>
          <p:cNvSpPr/>
          <p:nvPr/>
        </p:nvSpPr>
        <p:spPr>
          <a:xfrm>
            <a:off x="7743871" y="25298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</a:t>
            </a:r>
            <a:endParaRPr lang="en-US" sz="1275" dirty="0"/>
          </a:p>
        </p:txBody>
      </p:sp>
      <p:sp>
        <p:nvSpPr>
          <p:cNvPr id="58" name="Shape 55"/>
          <p:cNvSpPr/>
          <p:nvPr/>
        </p:nvSpPr>
        <p:spPr>
          <a:xfrm>
            <a:off x="8382488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9" name="Text 56"/>
          <p:cNvSpPr/>
          <p:nvPr/>
        </p:nvSpPr>
        <p:spPr>
          <a:xfrm>
            <a:off x="8458657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8984620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1" name="Text 58"/>
          <p:cNvSpPr/>
          <p:nvPr/>
        </p:nvSpPr>
        <p:spPr>
          <a:xfrm>
            <a:off x="9060790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9586752" y="28532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3" name="Text 60"/>
          <p:cNvSpPr/>
          <p:nvPr/>
        </p:nvSpPr>
        <p:spPr>
          <a:xfrm>
            <a:off x="9624883" y="25298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19.8%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7667610" y="33104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5" name="Text 62"/>
          <p:cNvSpPr/>
          <p:nvPr/>
        </p:nvSpPr>
        <p:spPr>
          <a:xfrm>
            <a:off x="7743871" y="29870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8382488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7" name="Text 64"/>
          <p:cNvSpPr/>
          <p:nvPr/>
        </p:nvSpPr>
        <p:spPr>
          <a:xfrm>
            <a:off x="8458657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8984620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9" name="Text 66"/>
          <p:cNvSpPr/>
          <p:nvPr/>
        </p:nvSpPr>
        <p:spPr>
          <a:xfrm>
            <a:off x="9060790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275" dirty="0"/>
          </a:p>
        </p:txBody>
      </p:sp>
      <p:sp>
        <p:nvSpPr>
          <p:cNvPr id="70" name="Shape 67"/>
          <p:cNvSpPr/>
          <p:nvPr/>
        </p:nvSpPr>
        <p:spPr>
          <a:xfrm>
            <a:off x="9586752" y="33104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1" name="Text 68"/>
          <p:cNvSpPr/>
          <p:nvPr/>
        </p:nvSpPr>
        <p:spPr>
          <a:xfrm>
            <a:off x="9624883" y="29870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35.3%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15.5%p</a:t>
            </a:r>
            <a:endParaRPr lang="en-US" sz="1275" dirty="0"/>
          </a:p>
        </p:txBody>
      </p:sp>
      <p:sp>
        <p:nvSpPr>
          <p:cNvPr id="72" name="Shape 69"/>
          <p:cNvSpPr/>
          <p:nvPr/>
        </p:nvSpPr>
        <p:spPr>
          <a:xfrm>
            <a:off x="7667610" y="37676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3" name="Text 70"/>
          <p:cNvSpPr/>
          <p:nvPr/>
        </p:nvSpPr>
        <p:spPr>
          <a:xfrm>
            <a:off x="7743871" y="34442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</a:t>
            </a:r>
            <a:endParaRPr lang="en-US" sz="1275" dirty="0"/>
          </a:p>
        </p:txBody>
      </p:sp>
      <p:sp>
        <p:nvSpPr>
          <p:cNvPr id="74" name="Shape 71"/>
          <p:cNvSpPr/>
          <p:nvPr/>
        </p:nvSpPr>
        <p:spPr>
          <a:xfrm>
            <a:off x="8382488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5" name="Text 72"/>
          <p:cNvSpPr/>
          <p:nvPr/>
        </p:nvSpPr>
        <p:spPr>
          <a:xfrm>
            <a:off x="8458657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endParaRPr lang="en-US" sz="1275" dirty="0"/>
          </a:p>
        </p:txBody>
      </p:sp>
      <p:sp>
        <p:nvSpPr>
          <p:cNvPr id="76" name="Shape 73"/>
          <p:cNvSpPr/>
          <p:nvPr/>
        </p:nvSpPr>
        <p:spPr>
          <a:xfrm>
            <a:off x="8984620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7" name="Text 74"/>
          <p:cNvSpPr/>
          <p:nvPr/>
        </p:nvSpPr>
        <p:spPr>
          <a:xfrm>
            <a:off x="9060790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</a:t>
            </a:r>
            <a:endParaRPr lang="en-US" sz="1275" dirty="0"/>
          </a:p>
        </p:txBody>
      </p:sp>
      <p:sp>
        <p:nvSpPr>
          <p:cNvPr id="78" name="Shape 75"/>
          <p:cNvSpPr/>
          <p:nvPr/>
        </p:nvSpPr>
        <p:spPr>
          <a:xfrm>
            <a:off x="9586752" y="37676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Text 76"/>
          <p:cNvSpPr/>
          <p:nvPr/>
        </p:nvSpPr>
        <p:spPr>
          <a:xfrm>
            <a:off x="9624883" y="34442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40.7%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5.4%p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7667610" y="42248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1" name="Text 78"/>
          <p:cNvSpPr/>
          <p:nvPr/>
        </p:nvSpPr>
        <p:spPr>
          <a:xfrm>
            <a:off x="7743871" y="39014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</a:t>
            </a:r>
            <a:endParaRPr lang="en-US" sz="1275" dirty="0"/>
          </a:p>
        </p:txBody>
      </p:sp>
      <p:sp>
        <p:nvSpPr>
          <p:cNvPr id="82" name="Shape 79"/>
          <p:cNvSpPr/>
          <p:nvPr/>
        </p:nvSpPr>
        <p:spPr>
          <a:xfrm>
            <a:off x="8382488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3" name="Text 80"/>
          <p:cNvSpPr/>
          <p:nvPr/>
        </p:nvSpPr>
        <p:spPr>
          <a:xfrm>
            <a:off x="8458657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19.6</a:t>
            </a:r>
            <a:endParaRPr lang="en-US" sz="1275" dirty="0"/>
          </a:p>
        </p:txBody>
      </p:sp>
      <p:sp>
        <p:nvSpPr>
          <p:cNvPr id="84" name="Shape 81"/>
          <p:cNvSpPr/>
          <p:nvPr/>
        </p:nvSpPr>
        <p:spPr>
          <a:xfrm>
            <a:off x="8984620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5" name="Text 82"/>
          <p:cNvSpPr/>
          <p:nvPr/>
        </p:nvSpPr>
        <p:spPr>
          <a:xfrm>
            <a:off x="9060790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</a:t>
            </a:r>
            <a:endParaRPr lang="en-US" sz="1275" dirty="0"/>
          </a:p>
        </p:txBody>
      </p:sp>
      <p:sp>
        <p:nvSpPr>
          <p:cNvPr id="86" name="Shape 83"/>
          <p:cNvSpPr/>
          <p:nvPr/>
        </p:nvSpPr>
        <p:spPr>
          <a:xfrm>
            <a:off x="9586752" y="42248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7" name="Text 84"/>
          <p:cNvSpPr/>
          <p:nvPr/>
        </p:nvSpPr>
        <p:spPr>
          <a:xfrm>
            <a:off x="9624883" y="39014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44.9%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4.2%p</a:t>
            </a:r>
            <a:endParaRPr lang="en-US" sz="1275" dirty="0"/>
          </a:p>
        </p:txBody>
      </p:sp>
      <p:sp>
        <p:nvSpPr>
          <p:cNvPr id="88" name="Shape 85"/>
          <p:cNvSpPr/>
          <p:nvPr/>
        </p:nvSpPr>
        <p:spPr>
          <a:xfrm>
            <a:off x="7667610" y="423431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9" name="Text 86"/>
          <p:cNvSpPr/>
          <p:nvPr/>
        </p:nvSpPr>
        <p:spPr>
          <a:xfrm>
            <a:off x="7743871" y="4358670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</a:t>
            </a:r>
            <a:endParaRPr lang="en-US" sz="1275" dirty="0"/>
          </a:p>
        </p:txBody>
      </p:sp>
      <p:sp>
        <p:nvSpPr>
          <p:cNvPr id="90" name="Shape 87"/>
          <p:cNvSpPr/>
          <p:nvPr/>
        </p:nvSpPr>
        <p:spPr>
          <a:xfrm>
            <a:off x="8382488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1" name="Text 88"/>
          <p:cNvSpPr/>
          <p:nvPr/>
        </p:nvSpPr>
        <p:spPr>
          <a:xfrm>
            <a:off x="8458657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60.3</a:t>
            </a:r>
            <a:endParaRPr lang="en-US" sz="1275" dirty="0"/>
          </a:p>
        </p:txBody>
      </p:sp>
      <p:sp>
        <p:nvSpPr>
          <p:cNvPr id="92" name="Shape 89"/>
          <p:cNvSpPr/>
          <p:nvPr/>
        </p:nvSpPr>
        <p:spPr>
          <a:xfrm>
            <a:off x="8984620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3" name="Text 90"/>
          <p:cNvSpPr/>
          <p:nvPr/>
        </p:nvSpPr>
        <p:spPr>
          <a:xfrm>
            <a:off x="9060790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37.8</a:t>
            </a:r>
            <a:endParaRPr lang="en-US" sz="1275" dirty="0"/>
          </a:p>
        </p:txBody>
      </p:sp>
      <p:sp>
        <p:nvSpPr>
          <p:cNvPr id="94" name="Shape 91"/>
          <p:cNvSpPr/>
          <p:nvPr/>
        </p:nvSpPr>
        <p:spPr>
          <a:xfrm>
            <a:off x="9586752" y="423431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5" name="Text 92"/>
          <p:cNvSpPr/>
          <p:nvPr/>
        </p:nvSpPr>
        <p:spPr>
          <a:xfrm>
            <a:off x="9662922" y="4358670"/>
            <a:ext cx="1452707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37.3%</a:t>
            </a:r>
            <a:endParaRPr lang="en-US" sz="1275" dirty="0"/>
          </a:p>
        </p:txBody>
      </p:sp>
      <p:sp>
        <p:nvSpPr>
          <p:cNvPr id="96" name="Text 93"/>
          <p:cNvSpPr/>
          <p:nvPr/>
        </p:nvSpPr>
        <p:spPr>
          <a:xfrm>
            <a:off x="7667610" y="4818614"/>
            <a:ext cx="356232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값은 월별 데이터에서 계산합니다. 이익률 =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(매출 − 비용) ÷ 매출.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58592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 · 상반기 1–6월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25167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매출 기여 — 스택 막대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52539" y="1037753"/>
            <a:ext cx="2177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 합계 3.1 → 5.0억 원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10668030" cy="2691994"/>
          </a:xfrm>
          <a:prstGeom prst="roundRect">
            <a:avLst>
              <a:gd name="adj" fmla="val 566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987E5"/>
          </a:solidFill>
          <a:ln/>
        </p:spPr>
      </p:sp>
      <p:sp>
        <p:nvSpPr>
          <p:cNvPr id="8" name="Text 5"/>
          <p:cNvSpPr/>
          <p:nvPr/>
        </p:nvSpPr>
        <p:spPr>
          <a:xfrm>
            <a:off x="119064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1885950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95926"/>
          </a:solidFill>
          <a:ln/>
        </p:spPr>
      </p:sp>
      <p:sp>
        <p:nvSpPr>
          <p:cNvPr id="10" name="Text 7"/>
          <p:cNvSpPr/>
          <p:nvPr/>
        </p:nvSpPr>
        <p:spPr>
          <a:xfrm>
            <a:off x="207642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609880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99E70"/>
          </a:solidFill>
          <a:ln/>
        </p:spPr>
      </p:sp>
      <p:sp>
        <p:nvSpPr>
          <p:cNvPr id="12" name="Text 9"/>
          <p:cNvSpPr/>
          <p:nvPr/>
        </p:nvSpPr>
        <p:spPr>
          <a:xfrm>
            <a:off x="280035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3495660" y="1807403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98500"/>
          </a:solidFill>
          <a:ln/>
        </p:spPr>
      </p:sp>
      <p:sp>
        <p:nvSpPr>
          <p:cNvPr id="14" name="Text 11"/>
          <p:cNvSpPr/>
          <p:nvPr/>
        </p:nvSpPr>
        <p:spPr>
          <a:xfrm>
            <a:off x="3686221" y="1760311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8870137" y="1767535"/>
            <a:ext cx="23217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 · 막대 위 숫자는 월 합계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00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56548" y="3685581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3838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2926" y="3587557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48" dirty="0"/>
          </a:p>
        </p:txBody>
      </p:sp>
      <p:sp>
        <p:nvSpPr>
          <p:cNvPr id="19" name="Shape 16"/>
          <p:cNvSpPr/>
          <p:nvPr/>
        </p:nvSpPr>
        <p:spPr>
          <a:xfrm>
            <a:off x="1456548" y="3203875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92926" y="3105851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48" dirty="0"/>
          </a:p>
        </p:txBody>
      </p:sp>
      <p:sp>
        <p:nvSpPr>
          <p:cNvPr id="21" name="Shape 18"/>
          <p:cNvSpPr/>
          <p:nvPr/>
        </p:nvSpPr>
        <p:spPr>
          <a:xfrm>
            <a:off x="1456548" y="2722169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92926" y="2624145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48" dirty="0"/>
          </a:p>
        </p:txBody>
      </p:sp>
      <p:sp>
        <p:nvSpPr>
          <p:cNvPr id="23" name="Shape 20"/>
          <p:cNvSpPr/>
          <p:nvPr/>
        </p:nvSpPr>
        <p:spPr>
          <a:xfrm>
            <a:off x="1456548" y="2240463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92926" y="2142439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48" dirty="0"/>
          </a:p>
        </p:txBody>
      </p:sp>
      <p:sp>
        <p:nvSpPr>
          <p:cNvPr id="25" name="Shape 22"/>
          <p:cNvSpPr/>
          <p:nvPr/>
        </p:nvSpPr>
        <p:spPr>
          <a:xfrm>
            <a:off x="2147377" y="3406049"/>
            <a:ext cx="228143" cy="279532"/>
          </a:xfrm>
          <a:custGeom>
            <a:avLst/>
            <a:gdLst/>
            <a:ahLst/>
            <a:cxnLst/>
            <a:rect l="l" t="t" r="r" b="b"/>
            <a:pathLst>
              <a:path w="228143" h="279532">
                <a:moveTo>
                  <a:pt x="0" y="0"/>
                </a:moveTo>
                <a:lnTo>
                  <a:pt x="228143" y="0"/>
                </a:lnTo>
                <a:lnTo>
                  <a:pt x="228143" y="279532"/>
                </a:lnTo>
                <a:lnTo>
                  <a:pt x="0" y="279532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26" name="Shape 23"/>
          <p:cNvSpPr/>
          <p:nvPr/>
        </p:nvSpPr>
        <p:spPr>
          <a:xfrm>
            <a:off x="2147377" y="3189336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27" name="Shape 24"/>
          <p:cNvSpPr/>
          <p:nvPr/>
        </p:nvSpPr>
        <p:spPr>
          <a:xfrm>
            <a:off x="2147377" y="3044769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28" name="Shape 25"/>
          <p:cNvSpPr/>
          <p:nvPr/>
        </p:nvSpPr>
        <p:spPr>
          <a:xfrm>
            <a:off x="2147377" y="2938973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29" name="Text 26"/>
          <p:cNvSpPr/>
          <p:nvPr/>
        </p:nvSpPr>
        <p:spPr>
          <a:xfrm>
            <a:off x="2122048" y="2708910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123" dirty="0"/>
          </a:p>
        </p:txBody>
      </p:sp>
      <p:sp>
        <p:nvSpPr>
          <p:cNvPr id="30" name="Text 27"/>
          <p:cNvSpPr/>
          <p:nvPr/>
        </p:nvSpPr>
        <p:spPr>
          <a:xfrm>
            <a:off x="2120219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48" dirty="0"/>
          </a:p>
        </p:txBody>
      </p:sp>
      <p:sp>
        <p:nvSpPr>
          <p:cNvPr id="31" name="Shape 28"/>
          <p:cNvSpPr/>
          <p:nvPr/>
        </p:nvSpPr>
        <p:spPr>
          <a:xfrm>
            <a:off x="3757270" y="3382000"/>
            <a:ext cx="228143" cy="303581"/>
          </a:xfrm>
          <a:custGeom>
            <a:avLst/>
            <a:gdLst/>
            <a:ahLst/>
            <a:cxnLst/>
            <a:rect l="l" t="t" r="r" b="b"/>
            <a:pathLst>
              <a:path w="228143" h="303581">
                <a:moveTo>
                  <a:pt x="0" y="0"/>
                </a:moveTo>
                <a:lnTo>
                  <a:pt x="228143" y="0"/>
                </a:lnTo>
                <a:lnTo>
                  <a:pt x="228143" y="303581"/>
                </a:lnTo>
                <a:lnTo>
                  <a:pt x="0" y="30358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2" name="Shape 29"/>
          <p:cNvSpPr/>
          <p:nvPr/>
        </p:nvSpPr>
        <p:spPr>
          <a:xfrm>
            <a:off x="3757270" y="3141147"/>
            <a:ext cx="228143" cy="221833"/>
          </a:xfrm>
          <a:custGeom>
            <a:avLst/>
            <a:gdLst/>
            <a:ahLst/>
            <a:cxnLst/>
            <a:rect l="l" t="t" r="r" b="b"/>
            <a:pathLst>
              <a:path w="228143" h="221833">
                <a:moveTo>
                  <a:pt x="0" y="0"/>
                </a:moveTo>
                <a:lnTo>
                  <a:pt x="228143" y="0"/>
                </a:lnTo>
                <a:lnTo>
                  <a:pt x="228143" y="221833"/>
                </a:lnTo>
                <a:lnTo>
                  <a:pt x="0" y="221833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3" name="Shape 30"/>
          <p:cNvSpPr/>
          <p:nvPr/>
        </p:nvSpPr>
        <p:spPr>
          <a:xfrm>
            <a:off x="3757270" y="2972532"/>
            <a:ext cx="228143" cy="149596"/>
          </a:xfrm>
          <a:custGeom>
            <a:avLst/>
            <a:gdLst/>
            <a:ahLst/>
            <a:cxnLst/>
            <a:rect l="l" t="t" r="r" b="b"/>
            <a:pathLst>
              <a:path w="228143" h="149596">
                <a:moveTo>
                  <a:pt x="0" y="0"/>
                </a:moveTo>
                <a:lnTo>
                  <a:pt x="228143" y="0"/>
                </a:lnTo>
                <a:lnTo>
                  <a:pt x="228143" y="149596"/>
                </a:lnTo>
                <a:lnTo>
                  <a:pt x="0" y="14959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34" name="Shape 31"/>
          <p:cNvSpPr/>
          <p:nvPr/>
        </p:nvSpPr>
        <p:spPr>
          <a:xfrm>
            <a:off x="3757270" y="2866735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35" name="Text 32"/>
          <p:cNvSpPr/>
          <p:nvPr/>
        </p:nvSpPr>
        <p:spPr>
          <a:xfrm>
            <a:off x="3731941" y="263667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123" dirty="0"/>
          </a:p>
        </p:txBody>
      </p:sp>
      <p:sp>
        <p:nvSpPr>
          <p:cNvPr id="36" name="Text 33"/>
          <p:cNvSpPr/>
          <p:nvPr/>
        </p:nvSpPr>
        <p:spPr>
          <a:xfrm>
            <a:off x="3730020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48" dirty="0"/>
          </a:p>
        </p:txBody>
      </p:sp>
      <p:sp>
        <p:nvSpPr>
          <p:cNvPr id="37" name="Shape 34"/>
          <p:cNvSpPr/>
          <p:nvPr/>
        </p:nvSpPr>
        <p:spPr>
          <a:xfrm>
            <a:off x="5367162" y="3357951"/>
            <a:ext cx="228143" cy="327721"/>
          </a:xfrm>
          <a:custGeom>
            <a:avLst/>
            <a:gdLst/>
            <a:ahLst/>
            <a:cxnLst/>
            <a:rect l="l" t="t" r="r" b="b"/>
            <a:pathLst>
              <a:path w="228143" h="327721">
                <a:moveTo>
                  <a:pt x="0" y="0"/>
                </a:moveTo>
                <a:lnTo>
                  <a:pt x="228143" y="0"/>
                </a:lnTo>
                <a:lnTo>
                  <a:pt x="228143" y="327721"/>
                </a:lnTo>
                <a:lnTo>
                  <a:pt x="0" y="32772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8" name="Shape 35"/>
          <p:cNvSpPr/>
          <p:nvPr/>
        </p:nvSpPr>
        <p:spPr>
          <a:xfrm>
            <a:off x="5367162" y="3092958"/>
            <a:ext cx="228143" cy="245882"/>
          </a:xfrm>
          <a:custGeom>
            <a:avLst/>
            <a:gdLst/>
            <a:ahLst/>
            <a:cxnLst/>
            <a:rect l="l" t="t" r="r" b="b"/>
            <a:pathLst>
              <a:path w="228143" h="245882">
                <a:moveTo>
                  <a:pt x="0" y="0"/>
                </a:moveTo>
                <a:lnTo>
                  <a:pt x="228143" y="0"/>
                </a:lnTo>
                <a:lnTo>
                  <a:pt x="228143" y="245882"/>
                </a:lnTo>
                <a:lnTo>
                  <a:pt x="0" y="245882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9" name="Shape 36"/>
          <p:cNvSpPr/>
          <p:nvPr/>
        </p:nvSpPr>
        <p:spPr>
          <a:xfrm>
            <a:off x="5367162" y="2948483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0" name="Shape 37"/>
          <p:cNvSpPr/>
          <p:nvPr/>
        </p:nvSpPr>
        <p:spPr>
          <a:xfrm>
            <a:off x="5367162" y="2818547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1" name="Text 38"/>
          <p:cNvSpPr/>
          <p:nvPr/>
        </p:nvSpPr>
        <p:spPr>
          <a:xfrm>
            <a:off x="5341833" y="2588484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123" dirty="0"/>
          </a:p>
        </p:txBody>
      </p:sp>
      <p:sp>
        <p:nvSpPr>
          <p:cNvPr id="42" name="Text 39"/>
          <p:cNvSpPr/>
          <p:nvPr/>
        </p:nvSpPr>
        <p:spPr>
          <a:xfrm>
            <a:off x="5339913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48" dirty="0"/>
          </a:p>
        </p:txBody>
      </p:sp>
      <p:sp>
        <p:nvSpPr>
          <p:cNvPr id="43" name="Shape 40"/>
          <p:cNvSpPr/>
          <p:nvPr/>
        </p:nvSpPr>
        <p:spPr>
          <a:xfrm>
            <a:off x="6976963" y="3309762"/>
            <a:ext cx="228143" cy="375818"/>
          </a:xfrm>
          <a:custGeom>
            <a:avLst/>
            <a:gdLst/>
            <a:ahLst/>
            <a:cxnLst/>
            <a:rect l="l" t="t" r="r" b="b"/>
            <a:pathLst>
              <a:path w="228143" h="375818">
                <a:moveTo>
                  <a:pt x="0" y="0"/>
                </a:moveTo>
                <a:lnTo>
                  <a:pt x="228143" y="0"/>
                </a:lnTo>
                <a:lnTo>
                  <a:pt x="228143" y="375818"/>
                </a:lnTo>
                <a:lnTo>
                  <a:pt x="0" y="375818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44" name="Shape 41"/>
          <p:cNvSpPr/>
          <p:nvPr/>
        </p:nvSpPr>
        <p:spPr>
          <a:xfrm>
            <a:off x="6976963" y="2996672"/>
            <a:ext cx="228143" cy="294071"/>
          </a:xfrm>
          <a:custGeom>
            <a:avLst/>
            <a:gdLst/>
            <a:ahLst/>
            <a:cxnLst/>
            <a:rect l="l" t="t" r="r" b="b"/>
            <a:pathLst>
              <a:path w="228143" h="294071">
                <a:moveTo>
                  <a:pt x="0" y="0"/>
                </a:moveTo>
                <a:lnTo>
                  <a:pt x="228143" y="0"/>
                </a:lnTo>
                <a:lnTo>
                  <a:pt x="228143" y="294071"/>
                </a:lnTo>
                <a:lnTo>
                  <a:pt x="0" y="29407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45" name="Shape 42"/>
          <p:cNvSpPr/>
          <p:nvPr/>
        </p:nvSpPr>
        <p:spPr>
          <a:xfrm>
            <a:off x="6976963" y="2804008"/>
            <a:ext cx="228143" cy="173645"/>
          </a:xfrm>
          <a:custGeom>
            <a:avLst/>
            <a:gdLst/>
            <a:ahLst/>
            <a:cxnLst/>
            <a:rect l="l" t="t" r="r" b="b"/>
            <a:pathLst>
              <a:path w="228143" h="173645">
                <a:moveTo>
                  <a:pt x="0" y="0"/>
                </a:moveTo>
                <a:lnTo>
                  <a:pt x="228143" y="0"/>
                </a:lnTo>
                <a:lnTo>
                  <a:pt x="228143" y="173645"/>
                </a:lnTo>
                <a:lnTo>
                  <a:pt x="0" y="17364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6" name="Shape 43"/>
          <p:cNvSpPr/>
          <p:nvPr/>
        </p:nvSpPr>
        <p:spPr>
          <a:xfrm>
            <a:off x="6976963" y="2674071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7" name="Text 44"/>
          <p:cNvSpPr/>
          <p:nvPr/>
        </p:nvSpPr>
        <p:spPr>
          <a:xfrm>
            <a:off x="6951635" y="2444008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123" dirty="0"/>
          </a:p>
        </p:txBody>
      </p:sp>
      <p:sp>
        <p:nvSpPr>
          <p:cNvPr id="48" name="Text 45"/>
          <p:cNvSpPr/>
          <p:nvPr/>
        </p:nvSpPr>
        <p:spPr>
          <a:xfrm>
            <a:off x="6949806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48" dirty="0"/>
          </a:p>
        </p:txBody>
      </p:sp>
      <p:sp>
        <p:nvSpPr>
          <p:cNvPr id="49" name="Shape 46"/>
          <p:cNvSpPr/>
          <p:nvPr/>
        </p:nvSpPr>
        <p:spPr>
          <a:xfrm>
            <a:off x="8586856" y="3261573"/>
            <a:ext cx="228143" cy="424007"/>
          </a:xfrm>
          <a:custGeom>
            <a:avLst/>
            <a:gdLst/>
            <a:ahLst/>
            <a:cxnLst/>
            <a:rect l="l" t="t" r="r" b="b"/>
            <a:pathLst>
              <a:path w="228143" h="424007">
                <a:moveTo>
                  <a:pt x="0" y="0"/>
                </a:moveTo>
                <a:lnTo>
                  <a:pt x="228143" y="0"/>
                </a:lnTo>
                <a:lnTo>
                  <a:pt x="228143" y="424007"/>
                </a:lnTo>
                <a:lnTo>
                  <a:pt x="0" y="424007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0" name="Shape 47"/>
          <p:cNvSpPr/>
          <p:nvPr/>
        </p:nvSpPr>
        <p:spPr>
          <a:xfrm>
            <a:off x="8586856" y="2924343"/>
            <a:ext cx="228143" cy="318211"/>
          </a:xfrm>
          <a:custGeom>
            <a:avLst/>
            <a:gdLst/>
            <a:ahLst/>
            <a:cxnLst/>
            <a:rect l="l" t="t" r="r" b="b"/>
            <a:pathLst>
              <a:path w="228143" h="318211">
                <a:moveTo>
                  <a:pt x="0" y="0"/>
                </a:moveTo>
                <a:lnTo>
                  <a:pt x="228143" y="0"/>
                </a:lnTo>
                <a:lnTo>
                  <a:pt x="228143" y="318211"/>
                </a:lnTo>
                <a:lnTo>
                  <a:pt x="0" y="31821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1" name="Shape 48"/>
          <p:cNvSpPr/>
          <p:nvPr/>
        </p:nvSpPr>
        <p:spPr>
          <a:xfrm>
            <a:off x="8586856" y="2707630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2" name="Shape 49"/>
          <p:cNvSpPr/>
          <p:nvPr/>
        </p:nvSpPr>
        <p:spPr>
          <a:xfrm>
            <a:off x="8586856" y="2553645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3" name="Text 50"/>
          <p:cNvSpPr/>
          <p:nvPr/>
        </p:nvSpPr>
        <p:spPr>
          <a:xfrm>
            <a:off x="8561527" y="232358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123" dirty="0"/>
          </a:p>
        </p:txBody>
      </p:sp>
      <p:sp>
        <p:nvSpPr>
          <p:cNvPr id="54" name="Text 51"/>
          <p:cNvSpPr/>
          <p:nvPr/>
        </p:nvSpPr>
        <p:spPr>
          <a:xfrm>
            <a:off x="8559698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48" dirty="0"/>
          </a:p>
        </p:txBody>
      </p:sp>
      <p:sp>
        <p:nvSpPr>
          <p:cNvPr id="55" name="Shape 52"/>
          <p:cNvSpPr/>
          <p:nvPr/>
        </p:nvSpPr>
        <p:spPr>
          <a:xfrm>
            <a:off x="10196749" y="3213384"/>
            <a:ext cx="228143" cy="472196"/>
          </a:xfrm>
          <a:custGeom>
            <a:avLst/>
            <a:gdLst/>
            <a:ahLst/>
            <a:cxnLst/>
            <a:rect l="l" t="t" r="r" b="b"/>
            <a:pathLst>
              <a:path w="228143" h="472196">
                <a:moveTo>
                  <a:pt x="0" y="0"/>
                </a:moveTo>
                <a:lnTo>
                  <a:pt x="228143" y="0"/>
                </a:lnTo>
                <a:lnTo>
                  <a:pt x="228143" y="472196"/>
                </a:lnTo>
                <a:lnTo>
                  <a:pt x="0" y="472196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6" name="Shape 53"/>
          <p:cNvSpPr/>
          <p:nvPr/>
        </p:nvSpPr>
        <p:spPr>
          <a:xfrm>
            <a:off x="10196749" y="2852105"/>
            <a:ext cx="228143" cy="342260"/>
          </a:xfrm>
          <a:custGeom>
            <a:avLst/>
            <a:gdLst/>
            <a:ahLst/>
            <a:cxnLst/>
            <a:rect l="l" t="t" r="r" b="b"/>
            <a:pathLst>
              <a:path w="228143" h="342260">
                <a:moveTo>
                  <a:pt x="0" y="0"/>
                </a:moveTo>
                <a:lnTo>
                  <a:pt x="228143" y="0"/>
                </a:lnTo>
                <a:lnTo>
                  <a:pt x="228143" y="342260"/>
                </a:lnTo>
                <a:lnTo>
                  <a:pt x="0" y="342260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7" name="Shape 54"/>
          <p:cNvSpPr/>
          <p:nvPr/>
        </p:nvSpPr>
        <p:spPr>
          <a:xfrm>
            <a:off x="10196749" y="2635392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8" name="Shape 55"/>
          <p:cNvSpPr/>
          <p:nvPr/>
        </p:nvSpPr>
        <p:spPr>
          <a:xfrm>
            <a:off x="10196749" y="2481316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9" name="Text 56"/>
          <p:cNvSpPr/>
          <p:nvPr/>
        </p:nvSpPr>
        <p:spPr>
          <a:xfrm>
            <a:off x="10171420" y="2251253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123" dirty="0"/>
          </a:p>
        </p:txBody>
      </p:sp>
      <p:sp>
        <p:nvSpPr>
          <p:cNvPr id="60" name="Text 57"/>
          <p:cNvSpPr/>
          <p:nvPr/>
        </p:nvSpPr>
        <p:spPr>
          <a:xfrm>
            <a:off x="10169591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48" dirty="0"/>
          </a:p>
        </p:txBody>
      </p:sp>
      <p:sp>
        <p:nvSpPr>
          <p:cNvPr id="61" name="Shape 58"/>
          <p:cNvSpPr/>
          <p:nvPr/>
        </p:nvSpPr>
        <p:spPr>
          <a:xfrm>
            <a:off x="761970" y="4456511"/>
            <a:ext cx="10668030" cy="2286000"/>
          </a:xfrm>
          <a:prstGeom prst="roundRect">
            <a:avLst>
              <a:gd name="adj" fmla="val 6667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0171" y="4899447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3" name="Text 60"/>
          <p:cNvSpPr/>
          <p:nvPr/>
        </p:nvSpPr>
        <p:spPr>
          <a:xfrm>
            <a:off x="1076340" y="4653747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3721608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5" name="Text 62"/>
          <p:cNvSpPr/>
          <p:nvPr/>
        </p:nvSpPr>
        <p:spPr>
          <a:xfrm>
            <a:off x="379777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475250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7" name="Text 64"/>
          <p:cNvSpPr/>
          <p:nvPr/>
        </p:nvSpPr>
        <p:spPr>
          <a:xfrm>
            <a:off x="4828764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578348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9" name="Text 66"/>
          <p:cNvSpPr/>
          <p:nvPr/>
        </p:nvSpPr>
        <p:spPr>
          <a:xfrm>
            <a:off x="585965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681438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1" name="Text 68"/>
          <p:cNvSpPr/>
          <p:nvPr/>
        </p:nvSpPr>
        <p:spPr>
          <a:xfrm>
            <a:off x="689055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784536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3" name="Text 70"/>
          <p:cNvSpPr/>
          <p:nvPr/>
        </p:nvSpPr>
        <p:spPr>
          <a:xfrm>
            <a:off x="7921539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876264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5" name="Text 72"/>
          <p:cNvSpPr/>
          <p:nvPr/>
        </p:nvSpPr>
        <p:spPr>
          <a:xfrm>
            <a:off x="895243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907158" y="4899447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7" name="Text 74"/>
          <p:cNvSpPr/>
          <p:nvPr/>
        </p:nvSpPr>
        <p:spPr>
          <a:xfrm>
            <a:off x="9983419" y="4653747"/>
            <a:ext cx="11323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1000171" y="52423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6340" y="50531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987E5"/>
          </a:solidFill>
          <a:ln/>
        </p:spPr>
      </p:sp>
      <p:sp>
        <p:nvSpPr>
          <p:cNvPr id="80" name="Text 77"/>
          <p:cNvSpPr/>
          <p:nvPr/>
        </p:nvSpPr>
        <p:spPr>
          <a:xfrm>
            <a:off x="1285921" y="49761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81" name="Shape 78"/>
          <p:cNvSpPr/>
          <p:nvPr/>
        </p:nvSpPr>
        <p:spPr>
          <a:xfrm>
            <a:off x="3721608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2" name="Text 79"/>
          <p:cNvSpPr/>
          <p:nvPr/>
        </p:nvSpPr>
        <p:spPr>
          <a:xfrm>
            <a:off x="379777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</a:t>
            </a:r>
            <a:endParaRPr lang="en-US" sz="1275" dirty="0"/>
          </a:p>
        </p:txBody>
      </p:sp>
      <p:sp>
        <p:nvSpPr>
          <p:cNvPr id="83" name="Shape 80"/>
          <p:cNvSpPr/>
          <p:nvPr/>
        </p:nvSpPr>
        <p:spPr>
          <a:xfrm>
            <a:off x="475250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4" name="Text 81"/>
          <p:cNvSpPr/>
          <p:nvPr/>
        </p:nvSpPr>
        <p:spPr>
          <a:xfrm>
            <a:off x="4828764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85" name="Shape 82"/>
          <p:cNvSpPr/>
          <p:nvPr/>
        </p:nvSpPr>
        <p:spPr>
          <a:xfrm>
            <a:off x="578348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6" name="Text 83"/>
          <p:cNvSpPr/>
          <p:nvPr/>
        </p:nvSpPr>
        <p:spPr>
          <a:xfrm>
            <a:off x="585965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87" name="Shape 84"/>
          <p:cNvSpPr/>
          <p:nvPr/>
        </p:nvSpPr>
        <p:spPr>
          <a:xfrm>
            <a:off x="681438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8" name="Text 85"/>
          <p:cNvSpPr/>
          <p:nvPr/>
        </p:nvSpPr>
        <p:spPr>
          <a:xfrm>
            <a:off x="689055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275" dirty="0"/>
          </a:p>
        </p:txBody>
      </p:sp>
      <p:sp>
        <p:nvSpPr>
          <p:cNvPr id="89" name="Shape 86"/>
          <p:cNvSpPr/>
          <p:nvPr/>
        </p:nvSpPr>
        <p:spPr>
          <a:xfrm>
            <a:off x="784536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0" name="Text 87"/>
          <p:cNvSpPr/>
          <p:nvPr/>
        </p:nvSpPr>
        <p:spPr>
          <a:xfrm>
            <a:off x="7921539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</a:t>
            </a:r>
            <a:endParaRPr lang="en-US" sz="1275" dirty="0"/>
          </a:p>
        </p:txBody>
      </p:sp>
      <p:sp>
        <p:nvSpPr>
          <p:cNvPr id="91" name="Shape 88"/>
          <p:cNvSpPr/>
          <p:nvPr/>
        </p:nvSpPr>
        <p:spPr>
          <a:xfrm>
            <a:off x="8876264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2" name="Text 89"/>
          <p:cNvSpPr/>
          <p:nvPr/>
        </p:nvSpPr>
        <p:spPr>
          <a:xfrm>
            <a:off x="895243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275" dirty="0"/>
          </a:p>
        </p:txBody>
      </p:sp>
      <p:sp>
        <p:nvSpPr>
          <p:cNvPr id="93" name="Shape 90"/>
          <p:cNvSpPr/>
          <p:nvPr/>
        </p:nvSpPr>
        <p:spPr>
          <a:xfrm>
            <a:off x="9907158" y="52423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4" name="Text 91"/>
          <p:cNvSpPr/>
          <p:nvPr/>
        </p:nvSpPr>
        <p:spPr>
          <a:xfrm>
            <a:off x="9983419" y="49761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</a:t>
            </a:r>
            <a:endParaRPr lang="en-US" sz="1275" dirty="0"/>
          </a:p>
        </p:txBody>
      </p:sp>
      <p:sp>
        <p:nvSpPr>
          <p:cNvPr id="95" name="Shape 92"/>
          <p:cNvSpPr/>
          <p:nvPr/>
        </p:nvSpPr>
        <p:spPr>
          <a:xfrm>
            <a:off x="1000171" y="55852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6" name="Shape 93"/>
          <p:cNvSpPr/>
          <p:nvPr/>
        </p:nvSpPr>
        <p:spPr>
          <a:xfrm>
            <a:off x="1076340" y="53960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95926"/>
          </a:solidFill>
          <a:ln/>
        </p:spPr>
      </p:sp>
      <p:sp>
        <p:nvSpPr>
          <p:cNvPr id="97" name="Text 94"/>
          <p:cNvSpPr/>
          <p:nvPr/>
        </p:nvSpPr>
        <p:spPr>
          <a:xfrm>
            <a:off x="1285921" y="53190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98" name="Shape 95"/>
          <p:cNvSpPr/>
          <p:nvPr/>
        </p:nvSpPr>
        <p:spPr>
          <a:xfrm>
            <a:off x="3721608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9" name="Text 96"/>
          <p:cNvSpPr/>
          <p:nvPr/>
        </p:nvSpPr>
        <p:spPr>
          <a:xfrm>
            <a:off x="379777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00" name="Shape 97"/>
          <p:cNvSpPr/>
          <p:nvPr/>
        </p:nvSpPr>
        <p:spPr>
          <a:xfrm>
            <a:off x="475250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1" name="Text 98"/>
          <p:cNvSpPr/>
          <p:nvPr/>
        </p:nvSpPr>
        <p:spPr>
          <a:xfrm>
            <a:off x="4828764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275" dirty="0"/>
          </a:p>
        </p:txBody>
      </p:sp>
      <p:sp>
        <p:nvSpPr>
          <p:cNvPr id="102" name="Shape 99"/>
          <p:cNvSpPr/>
          <p:nvPr/>
        </p:nvSpPr>
        <p:spPr>
          <a:xfrm>
            <a:off x="578348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3" name="Text 100"/>
          <p:cNvSpPr/>
          <p:nvPr/>
        </p:nvSpPr>
        <p:spPr>
          <a:xfrm>
            <a:off x="585965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275" dirty="0"/>
          </a:p>
        </p:txBody>
      </p:sp>
      <p:sp>
        <p:nvSpPr>
          <p:cNvPr id="104" name="Shape 101"/>
          <p:cNvSpPr/>
          <p:nvPr/>
        </p:nvSpPr>
        <p:spPr>
          <a:xfrm>
            <a:off x="681438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5" name="Text 102"/>
          <p:cNvSpPr/>
          <p:nvPr/>
        </p:nvSpPr>
        <p:spPr>
          <a:xfrm>
            <a:off x="689055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106" name="Shape 103"/>
          <p:cNvSpPr/>
          <p:nvPr/>
        </p:nvSpPr>
        <p:spPr>
          <a:xfrm>
            <a:off x="784536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7" name="Text 104"/>
          <p:cNvSpPr/>
          <p:nvPr/>
        </p:nvSpPr>
        <p:spPr>
          <a:xfrm>
            <a:off x="7921539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108" name="Shape 105"/>
          <p:cNvSpPr/>
          <p:nvPr/>
        </p:nvSpPr>
        <p:spPr>
          <a:xfrm>
            <a:off x="8876264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9" name="Text 106"/>
          <p:cNvSpPr/>
          <p:nvPr/>
        </p:nvSpPr>
        <p:spPr>
          <a:xfrm>
            <a:off x="895243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275" dirty="0"/>
          </a:p>
        </p:txBody>
      </p:sp>
      <p:sp>
        <p:nvSpPr>
          <p:cNvPr id="110" name="Shape 107"/>
          <p:cNvSpPr/>
          <p:nvPr/>
        </p:nvSpPr>
        <p:spPr>
          <a:xfrm>
            <a:off x="9907158" y="55852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1" name="Text 108"/>
          <p:cNvSpPr/>
          <p:nvPr/>
        </p:nvSpPr>
        <p:spPr>
          <a:xfrm>
            <a:off x="9983419" y="53190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</a:t>
            </a:r>
            <a:endParaRPr lang="en-US" sz="1275" dirty="0"/>
          </a:p>
        </p:txBody>
      </p:sp>
      <p:sp>
        <p:nvSpPr>
          <p:cNvPr id="112" name="Shape 109"/>
          <p:cNvSpPr/>
          <p:nvPr/>
        </p:nvSpPr>
        <p:spPr>
          <a:xfrm>
            <a:off x="1000171" y="59281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076340" y="57389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99E70"/>
          </a:solidFill>
          <a:ln/>
        </p:spPr>
      </p:sp>
      <p:sp>
        <p:nvSpPr>
          <p:cNvPr id="114" name="Text 111"/>
          <p:cNvSpPr/>
          <p:nvPr/>
        </p:nvSpPr>
        <p:spPr>
          <a:xfrm>
            <a:off x="1285921" y="56619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15" name="Shape 112"/>
          <p:cNvSpPr/>
          <p:nvPr/>
        </p:nvSpPr>
        <p:spPr>
          <a:xfrm>
            <a:off x="3721608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6" name="Text 113"/>
          <p:cNvSpPr/>
          <p:nvPr/>
        </p:nvSpPr>
        <p:spPr>
          <a:xfrm>
            <a:off x="379777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17" name="Shape 114"/>
          <p:cNvSpPr/>
          <p:nvPr/>
        </p:nvSpPr>
        <p:spPr>
          <a:xfrm>
            <a:off x="475250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8" name="Text 115"/>
          <p:cNvSpPr/>
          <p:nvPr/>
        </p:nvSpPr>
        <p:spPr>
          <a:xfrm>
            <a:off x="4828764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</a:t>
            </a:r>
            <a:endParaRPr lang="en-US" sz="1275" dirty="0"/>
          </a:p>
        </p:txBody>
      </p:sp>
      <p:sp>
        <p:nvSpPr>
          <p:cNvPr id="119" name="Shape 116"/>
          <p:cNvSpPr/>
          <p:nvPr/>
        </p:nvSpPr>
        <p:spPr>
          <a:xfrm>
            <a:off x="578348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0" name="Text 117"/>
          <p:cNvSpPr/>
          <p:nvPr/>
        </p:nvSpPr>
        <p:spPr>
          <a:xfrm>
            <a:off x="585965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21" name="Shape 118"/>
          <p:cNvSpPr/>
          <p:nvPr/>
        </p:nvSpPr>
        <p:spPr>
          <a:xfrm>
            <a:off x="681438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2" name="Text 119"/>
          <p:cNvSpPr/>
          <p:nvPr/>
        </p:nvSpPr>
        <p:spPr>
          <a:xfrm>
            <a:off x="689055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</a:t>
            </a:r>
            <a:endParaRPr lang="en-US" sz="1275" dirty="0"/>
          </a:p>
        </p:txBody>
      </p:sp>
      <p:sp>
        <p:nvSpPr>
          <p:cNvPr id="123" name="Shape 120"/>
          <p:cNvSpPr/>
          <p:nvPr/>
        </p:nvSpPr>
        <p:spPr>
          <a:xfrm>
            <a:off x="784536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4" name="Text 121"/>
          <p:cNvSpPr/>
          <p:nvPr/>
        </p:nvSpPr>
        <p:spPr>
          <a:xfrm>
            <a:off x="7921539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5" name="Shape 122"/>
          <p:cNvSpPr/>
          <p:nvPr/>
        </p:nvSpPr>
        <p:spPr>
          <a:xfrm>
            <a:off x="8876264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6" name="Text 123"/>
          <p:cNvSpPr/>
          <p:nvPr/>
        </p:nvSpPr>
        <p:spPr>
          <a:xfrm>
            <a:off x="895243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7" name="Shape 124"/>
          <p:cNvSpPr/>
          <p:nvPr/>
        </p:nvSpPr>
        <p:spPr>
          <a:xfrm>
            <a:off x="9907158" y="59281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83419" y="56619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</a:t>
            </a:r>
            <a:endParaRPr lang="en-US" sz="1275" dirty="0"/>
          </a:p>
        </p:txBody>
      </p:sp>
      <p:sp>
        <p:nvSpPr>
          <p:cNvPr id="129" name="Shape 126"/>
          <p:cNvSpPr/>
          <p:nvPr/>
        </p:nvSpPr>
        <p:spPr>
          <a:xfrm>
            <a:off x="1000171" y="62710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76340" y="60818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98500"/>
          </a:solidFill>
          <a:ln/>
        </p:spPr>
      </p:sp>
      <p:sp>
        <p:nvSpPr>
          <p:cNvPr id="131" name="Text 128"/>
          <p:cNvSpPr/>
          <p:nvPr/>
        </p:nvSpPr>
        <p:spPr>
          <a:xfrm>
            <a:off x="1285921" y="6004865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32" name="Shape 129"/>
          <p:cNvSpPr/>
          <p:nvPr/>
        </p:nvSpPr>
        <p:spPr>
          <a:xfrm>
            <a:off x="3721608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3" name="Text 130"/>
          <p:cNvSpPr/>
          <p:nvPr/>
        </p:nvSpPr>
        <p:spPr>
          <a:xfrm>
            <a:off x="379777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4" name="Shape 131"/>
          <p:cNvSpPr/>
          <p:nvPr/>
        </p:nvSpPr>
        <p:spPr>
          <a:xfrm>
            <a:off x="475250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5" name="Text 132"/>
          <p:cNvSpPr/>
          <p:nvPr/>
        </p:nvSpPr>
        <p:spPr>
          <a:xfrm>
            <a:off x="4828764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6" name="Shape 133"/>
          <p:cNvSpPr/>
          <p:nvPr/>
        </p:nvSpPr>
        <p:spPr>
          <a:xfrm>
            <a:off x="578348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7" name="Text 134"/>
          <p:cNvSpPr/>
          <p:nvPr/>
        </p:nvSpPr>
        <p:spPr>
          <a:xfrm>
            <a:off x="585965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38" name="Shape 135"/>
          <p:cNvSpPr/>
          <p:nvPr/>
        </p:nvSpPr>
        <p:spPr>
          <a:xfrm>
            <a:off x="681438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9" name="Text 136"/>
          <p:cNvSpPr/>
          <p:nvPr/>
        </p:nvSpPr>
        <p:spPr>
          <a:xfrm>
            <a:off x="689055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40" name="Shape 137"/>
          <p:cNvSpPr/>
          <p:nvPr/>
        </p:nvSpPr>
        <p:spPr>
          <a:xfrm>
            <a:off x="784536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1" name="Text 138"/>
          <p:cNvSpPr/>
          <p:nvPr/>
        </p:nvSpPr>
        <p:spPr>
          <a:xfrm>
            <a:off x="7921539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2" name="Shape 139"/>
          <p:cNvSpPr/>
          <p:nvPr/>
        </p:nvSpPr>
        <p:spPr>
          <a:xfrm>
            <a:off x="8876264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3" name="Text 140"/>
          <p:cNvSpPr/>
          <p:nvPr/>
        </p:nvSpPr>
        <p:spPr>
          <a:xfrm>
            <a:off x="895243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4" name="Shape 141"/>
          <p:cNvSpPr/>
          <p:nvPr/>
        </p:nvSpPr>
        <p:spPr>
          <a:xfrm>
            <a:off x="9907158" y="62710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5" name="Text 142"/>
          <p:cNvSpPr/>
          <p:nvPr/>
        </p:nvSpPr>
        <p:spPr>
          <a:xfrm>
            <a:off x="9983419" y="60048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275" dirty="0"/>
          </a:p>
        </p:txBody>
      </p:sp>
      <p:sp>
        <p:nvSpPr>
          <p:cNvPr id="146" name="Shape 143"/>
          <p:cNvSpPr/>
          <p:nvPr/>
        </p:nvSpPr>
        <p:spPr>
          <a:xfrm>
            <a:off x="1000171" y="6280556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76340" y="63477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75" dirty="0"/>
          </a:p>
        </p:txBody>
      </p:sp>
      <p:sp>
        <p:nvSpPr>
          <p:cNvPr id="148" name="Shape 145"/>
          <p:cNvSpPr/>
          <p:nvPr/>
        </p:nvSpPr>
        <p:spPr>
          <a:xfrm>
            <a:off x="3721608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9" name="Text 146"/>
          <p:cNvSpPr/>
          <p:nvPr/>
        </p:nvSpPr>
        <p:spPr>
          <a:xfrm>
            <a:off x="379777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275" dirty="0"/>
          </a:p>
        </p:txBody>
      </p:sp>
      <p:sp>
        <p:nvSpPr>
          <p:cNvPr id="150" name="Shape 147"/>
          <p:cNvSpPr/>
          <p:nvPr/>
        </p:nvSpPr>
        <p:spPr>
          <a:xfrm>
            <a:off x="475250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1" name="Text 148"/>
          <p:cNvSpPr/>
          <p:nvPr/>
        </p:nvSpPr>
        <p:spPr>
          <a:xfrm>
            <a:off x="4828764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275" dirty="0"/>
          </a:p>
        </p:txBody>
      </p:sp>
      <p:sp>
        <p:nvSpPr>
          <p:cNvPr id="152" name="Shape 149"/>
          <p:cNvSpPr/>
          <p:nvPr/>
        </p:nvSpPr>
        <p:spPr>
          <a:xfrm>
            <a:off x="578348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3" name="Text 150"/>
          <p:cNvSpPr/>
          <p:nvPr/>
        </p:nvSpPr>
        <p:spPr>
          <a:xfrm>
            <a:off x="585965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275" dirty="0"/>
          </a:p>
        </p:txBody>
      </p:sp>
      <p:sp>
        <p:nvSpPr>
          <p:cNvPr id="154" name="Shape 151"/>
          <p:cNvSpPr/>
          <p:nvPr/>
        </p:nvSpPr>
        <p:spPr>
          <a:xfrm>
            <a:off x="681438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5" name="Text 152"/>
          <p:cNvSpPr/>
          <p:nvPr/>
        </p:nvSpPr>
        <p:spPr>
          <a:xfrm>
            <a:off x="689055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275" dirty="0"/>
          </a:p>
        </p:txBody>
      </p:sp>
      <p:sp>
        <p:nvSpPr>
          <p:cNvPr id="156" name="Shape 153"/>
          <p:cNvSpPr/>
          <p:nvPr/>
        </p:nvSpPr>
        <p:spPr>
          <a:xfrm>
            <a:off x="784536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7" name="Text 154"/>
          <p:cNvSpPr/>
          <p:nvPr/>
        </p:nvSpPr>
        <p:spPr>
          <a:xfrm>
            <a:off x="7921539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275" dirty="0"/>
          </a:p>
        </p:txBody>
      </p:sp>
      <p:sp>
        <p:nvSpPr>
          <p:cNvPr id="158" name="Shape 155"/>
          <p:cNvSpPr/>
          <p:nvPr/>
        </p:nvSpPr>
        <p:spPr>
          <a:xfrm>
            <a:off x="8876264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9" name="Text 156"/>
          <p:cNvSpPr/>
          <p:nvPr/>
        </p:nvSpPr>
        <p:spPr>
          <a:xfrm>
            <a:off x="895243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275" dirty="0"/>
          </a:p>
        </p:txBody>
      </p:sp>
      <p:sp>
        <p:nvSpPr>
          <p:cNvPr id="160" name="Shape 157"/>
          <p:cNvSpPr/>
          <p:nvPr/>
        </p:nvSpPr>
        <p:spPr>
          <a:xfrm>
            <a:off x="9907158" y="6280556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61" name="Text 158"/>
          <p:cNvSpPr/>
          <p:nvPr/>
        </p:nvSpPr>
        <p:spPr>
          <a:xfrm>
            <a:off x="9983419" y="63477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24.0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730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3548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로드맵과 변환 파이프라인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 rot="21120000">
            <a:off x="9921606" y="666780"/>
            <a:ext cx="1432133" cy="514350"/>
          </a:xfrm>
          <a:prstGeom prst="roundRect">
            <a:avLst>
              <a:gd name="adj" fmla="val 18519"/>
            </a:avLst>
          </a:prstGeom>
          <a:ln w="28575">
            <a:solidFill>
              <a:srgbClr val="0CA30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21120000">
            <a:off x="10140696" y="784464"/>
            <a:ext cx="9940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50" kern="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완료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069287"/>
            <a:ext cx="8534370" cy="1902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" name="Text 5"/>
          <p:cNvSpPr/>
          <p:nvPr/>
        </p:nvSpPr>
        <p:spPr>
          <a:xfrm>
            <a:off x="7619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619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429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모델과 12열 그리드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36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말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29336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29146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 템플릿 기반 슬라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이드 작성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53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중순 · 진행 중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51053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0863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미리보기로 겹침과 넘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 점검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770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말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2770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2580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build_pptx로 네이티브 PPTX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487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94487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4297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PowerPoint에서 최</a:t>
            </a:r>
            <a:endParaRPr lang="en-US" sz="1200" dirty="0"/>
          </a:p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1970" y="4769602"/>
            <a:ext cx="10668030" cy="1554937"/>
          </a:xfrm>
          <a:prstGeom prst="roundRect">
            <a:avLst>
              <a:gd name="adj" fmla="val 980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0171" y="4980005"/>
            <a:ext cx="7946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10001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48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시안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7908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31337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85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렌더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92441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5267310" y="5362590"/>
            <a:ext cx="1657350" cy="742950"/>
          </a:xfrm>
          <a:prstGeom prst="roundRect">
            <a:avLst>
              <a:gd name="adj" fmla="val 15385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53080" y="5511820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레이아웃 추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058071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74009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056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pptxgenjs 생성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1916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95345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393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5906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097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7623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814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Shape 40"/>
          <p:cNvSpPr/>
          <p:nvPr/>
        </p:nvSpPr>
        <p:spPr>
          <a:xfrm>
            <a:off x="59340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531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398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81057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248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47" name="Shape 44"/>
          <p:cNvSpPr/>
          <p:nvPr/>
        </p:nvSpPr>
        <p:spPr>
          <a:xfrm>
            <a:off x="102774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965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102806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407785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명령과 체크리스트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5715000" cy="4788713"/>
          </a:xfrm>
          <a:prstGeom prst="roundRect">
            <a:avLst>
              <a:gd name="adj" fmla="val 3182"/>
            </a:avLst>
          </a:prstGeom>
          <a:solidFill>
            <a:srgbClr val="111110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1571" y="1545427"/>
            <a:ext cx="5695980" cy="409560"/>
          </a:xfrm>
          <a:custGeom>
            <a:avLst/>
            <a:gdLst/>
            <a:ahLst/>
            <a:cxnLst/>
            <a:rect l="l" t="t" r="r" b="b"/>
            <a:pathLst>
              <a:path w="5695980" h="409560">
                <a:moveTo>
                  <a:pt x="152430" y="0"/>
                </a:moveTo>
                <a:lnTo>
                  <a:pt x="5543550" y="0"/>
                </a:lnTo>
                <a:arcTo hR="152430" wR="152430" stAng="16200000" swAng="5400000"/>
                <a:lnTo>
                  <a:pt x="5695980" y="409560"/>
                </a:lnTo>
                <a:lnTo>
                  <a:pt x="0" y="409560"/>
                </a:lnTo>
                <a:lnTo>
                  <a:pt x="0" y="152430"/>
                </a:lnTo>
                <a:arcTo hR="152430" wR="152430" stAng="10800000" swAng="5400000"/>
                <a:close/>
              </a:path>
            </a:pathLst>
          </a:custGeom>
          <a:solidFill>
            <a:srgbClr val="1A1A19"/>
          </a:solidFill>
          <a:ln/>
        </p:spPr>
      </p:sp>
      <p:sp>
        <p:nvSpPr>
          <p:cNvPr id="7" name="Shape 4"/>
          <p:cNvSpPr/>
          <p:nvPr/>
        </p:nvSpPr>
        <p:spPr>
          <a:xfrm>
            <a:off x="771571" y="1945477"/>
            <a:ext cx="569598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2391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9" name="Shape 6"/>
          <p:cNvSpPr/>
          <p:nvPr/>
        </p:nvSpPr>
        <p:spPr>
          <a:xfrm>
            <a:off x="1114471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0" name="Shape 7"/>
          <p:cNvSpPr/>
          <p:nvPr/>
        </p:nvSpPr>
        <p:spPr>
          <a:xfrm>
            <a:off x="130494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1" name="Text 8"/>
          <p:cNvSpPr/>
          <p:nvPr/>
        </p:nvSpPr>
        <p:spPr>
          <a:xfrm>
            <a:off x="1590690" y="1656893"/>
            <a:ext cx="1149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 · html-ppt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0171" y="2178832"/>
            <a:ext cx="5276820" cy="319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1) Preview: one PNG per slide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.claude/skills/html-ppt/scripts/preview.mjs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preview/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2) Export native PPTX with fixed line breaks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--hard-wrap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3) Remap fonts that are not installed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--font-map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"Pretendard=Malgun Gothic"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81830" y="2130186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781830" y="1690086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67510" y="1721998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19920" y="1584289"/>
            <a:ext cx="12544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런 · 목록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19920" y="1842973"/>
            <a:ext cx="20583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텍스트 상자로 서식 유지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6781830" y="2733965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9" name="Shape 16"/>
          <p:cNvSpPr/>
          <p:nvPr/>
        </p:nvSpPr>
        <p:spPr>
          <a:xfrm>
            <a:off x="6781830" y="2293864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510" y="2325776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19920" y="2188068"/>
            <a:ext cx="11303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flex · grid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219920" y="2446752"/>
            <a:ext cx="17223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렌더링된 좌표 그대로 배치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6781830" y="3337743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Shape 21"/>
          <p:cNvSpPr/>
          <p:nvPr/>
        </p:nvSpPr>
        <p:spPr>
          <a:xfrm>
            <a:off x="6781830" y="289764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67510" y="2929555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19920" y="2791846"/>
            <a:ext cx="15371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· 그림자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19920" y="3050621"/>
            <a:ext cx="20081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채우기와 바깥 그림자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6781830" y="394152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9" name="Shape 26"/>
          <p:cNvSpPr/>
          <p:nvPr/>
        </p:nvSpPr>
        <p:spPr>
          <a:xfrm>
            <a:off x="6781830" y="350151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7510" y="3533333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19920" y="3395624"/>
            <a:ext cx="10121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· 캔버스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19920" y="3654400"/>
            <a:ext cx="161153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 또는 2x 이미지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6781830" y="454539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4" name="Shape 31"/>
          <p:cNvSpPr/>
          <p:nvPr/>
        </p:nvSpPr>
        <p:spPr>
          <a:xfrm>
            <a:off x="6781830" y="4105290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510" y="4137111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219920" y="3999494"/>
            <a:ext cx="8513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· 확대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219920" y="4258178"/>
            <a:ext cx="220114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도형과 텍스트까지 함께 변환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6781830" y="5149169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9" name="Shape 36"/>
          <p:cNvSpPr/>
          <p:nvPr/>
        </p:nvSpPr>
        <p:spPr>
          <a:xfrm>
            <a:off x="6781830" y="4709069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99971" y="4740890"/>
            <a:ext cx="4928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19920" y="4603272"/>
            <a:ext cx="1425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블렌드 모드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219920" y="4861956"/>
            <a:ext cx="18652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저장되어 편집 불가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781830" y="5367711"/>
            <a:ext cx="220983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표, 도형, 그라디언트는 편집 가능한 개체가 됩니다. 필터와 블렌드 모드, 배경 클립 텍스트는 그림으로 저장됩니다. 다단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9258300" y="5367711"/>
            <a:ext cx="22098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(column-count)은 단마다 텍스트 상자 하나로 나뉘므로, 본문은 가능하면 일반 흐름으로 쓰세요.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33724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· REQUESTANIMATIONFRAME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177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흐름장 — 실시간 렌더링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05173" y="1037753"/>
            <a:ext cx="22248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난수 · 잔상 페이드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535918"/>
            <a:ext cx="6667530" cy="41909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96230" y="1535918"/>
            <a:ext cx="3733770" cy="4788713"/>
          </a:xfrm>
          <a:prstGeom prst="roundRect">
            <a:avLst>
              <a:gd name="adj" fmla="val 408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434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수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7934340" y="2039935"/>
            <a:ext cx="728777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7934340" y="288008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속도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7934340" y="3168945"/>
            <a:ext cx="124550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fps</a:t>
            </a:r>
            <a:endParaRPr lang="en-US" sz="3300" dirty="0"/>
          </a:p>
        </p:txBody>
      </p:sp>
      <p:sp>
        <p:nvSpPr>
          <p:cNvPr id="12" name="Text 8"/>
          <p:cNvSpPr/>
          <p:nvPr/>
        </p:nvSpPr>
        <p:spPr>
          <a:xfrm>
            <a:off x="7934340" y="4009095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간격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7934340" y="4297954"/>
            <a:ext cx="156645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ms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7934340" y="5273802"/>
            <a:ext cx="329568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캔버스는 변환 시 현재 프레임이 2x 이미지로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저장됩니다.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87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7619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3403580" cy="2271370"/>
          </a:xfrm>
          <a:prstGeom prst="roundRect">
            <a:avLst>
              <a:gd name="adj" fmla="val 67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171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00171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Text 5"/>
          <p:cNvSpPr/>
          <p:nvPr/>
        </p:nvSpPr>
        <p:spPr>
          <a:xfrm>
            <a:off x="1000171" y="2282525"/>
            <a:ext cx="23372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· 외부 의존성 없음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0171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" name="Text 7"/>
          <p:cNvSpPr/>
          <p:nvPr/>
        </p:nvSpPr>
        <p:spPr>
          <a:xfrm>
            <a:off x="1000171" y="2748229"/>
            <a:ext cx="25891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section.slide 1280×720 고정 크기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0171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Text 9"/>
          <p:cNvSpPr/>
          <p:nvPr/>
        </p:nvSpPr>
        <p:spPr>
          <a:xfrm>
            <a:off x="1000171" y="3213933"/>
            <a:ext cx="248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:root 토큰으로 역할별 관리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94149" y="1535918"/>
            <a:ext cx="3403580" cy="2271370"/>
          </a:xfrm>
          <a:prstGeom prst="roundRect">
            <a:avLst>
              <a:gd name="adj" fmla="val 67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259" y="1752356"/>
            <a:ext cx="7429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632259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2259" y="2282525"/>
            <a:ext cx="2788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데이터 배열에서 SVG로 생성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32259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8" name="Text 15"/>
          <p:cNvSpPr/>
          <p:nvPr/>
        </p:nvSpPr>
        <p:spPr>
          <a:xfrm>
            <a:off x="4632259" y="2748229"/>
            <a:ext cx="2127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차트마다 표 뷰를 함께 배치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32259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0" name="Text 17"/>
          <p:cNvSpPr/>
          <p:nvPr/>
        </p:nvSpPr>
        <p:spPr>
          <a:xfrm>
            <a:off x="4632259" y="3213933"/>
            <a:ext cx="29106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툴팁은 보조 수단, 값은 표에서도 확인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26329" y="1535918"/>
            <a:ext cx="3403671" cy="2271370"/>
          </a:xfrm>
          <a:prstGeom prst="roundRect">
            <a:avLst>
              <a:gd name="adj" fmla="val 67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4439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264439" y="2647371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Text 21"/>
          <p:cNvSpPr/>
          <p:nvPr/>
        </p:nvSpPr>
        <p:spPr>
          <a:xfrm>
            <a:off x="8264439" y="2282525"/>
            <a:ext cx="2587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텍스트·표·그라디언트 → 네이티브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264439" y="3113075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6" name="Text 23"/>
          <p:cNvSpPr/>
          <p:nvPr/>
        </p:nvSpPr>
        <p:spPr>
          <a:xfrm>
            <a:off x="8264439" y="2748229"/>
            <a:ext cx="27088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SVG·캔버스 → 벡터 또는 2x 이미지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264439" y="3578687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8" name="Text 25"/>
          <p:cNvSpPr/>
          <p:nvPr/>
        </p:nvSpPr>
        <p:spPr>
          <a:xfrm>
            <a:off x="8264439" y="3213933"/>
            <a:ext cx="2670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필터·블렌드 모드 → 그림으로 저장</a:t>
            </a:r>
            <a:endParaRPr lang="en-US" sz="1350" dirty="0"/>
          </a:p>
        </p:txBody>
      </p:sp>
      <p:sp>
        <p:nvSpPr>
          <p:cNvPr id="29" name="hp4"/>
          <p:cNvSpPr/>
          <p:nvPr/>
        </p:nvSpPr>
        <p:spPr>
          <a:xfrm>
            <a:off x="761970" y="5204216"/>
            <a:ext cx="3902568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3987E5"/>
                    </a:gs>
                    <a:gs pos="60000">
                      <a:srgbClr val="D95926"/>
                    </a:gs>
                    <a:gs pos="100000">
                      <a:srgbClr val="C9850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파일, 여덟 장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761970" y="6055065"/>
            <a:ext cx="4560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 · 표시된 모든 수치는 가상의 값입니다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2026-10-21T22:35:52Z</dcterms:created>
  <dcterms:modified xsi:type="dcterms:W3CDTF">2026-10-21T22:35:52Z</dcterms:modified>
</cp:coreProperties>
</file>