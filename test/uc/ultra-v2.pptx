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단일 파일, 외부 의존성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KPI: 추세선은 SVG, 도넛과 미터는 SVG·CSS.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추이: 기간 토글과 호버 툴팁(십자선 포함)을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스택: 막대 위 숫자는 합계, 표는 같은 배열에서 생성됩니다.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로드맵: 현재 단계는 파란 테두리, 완료 단계는 초록 테두리.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명령: 스크립트 경로는 프로젝트 기준 상대 경로입니다.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캔버스: 같은 시드로 항상 같은 배치에서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구조, 데이터, 변환 세 관점으로 요약합니다.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1970" y="1842150"/>
            <a:ext cx="3152028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HTML · SLIDE SHOWCASE</a:t>
            </a:r>
            <a:endParaRPr lang="en-US" sz="1200" dirty="0"/>
          </a:p>
        </p:txBody>
      </p:sp>
      <p:sp>
        <p:nvSpPr>
          <p:cNvPr id="5" name="hp2"/>
          <p:cNvSpPr/>
          <p:nvPr/>
        </p:nvSpPr>
        <p:spPr>
          <a:xfrm>
            <a:off x="761970" y="2320747"/>
            <a:ext cx="6134070" cy="13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spc="-38" kern="0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개의 HTML로 만든</a:t>
            </a:r>
            <a:endParaRPr lang="en-US" sz="4200" dirty="0"/>
          </a:p>
          <a:p>
            <a:pPr algn="l" indent="0" marL="0">
              <a:lnSpc>
                <a:spcPts val="5040"/>
              </a:lnSpc>
              <a:buNone/>
            </a:pPr>
            <a:r>
              <a:rPr lang="en-US" sz="4200" b="1" spc="-38" kern="0" dirty="0">
                <a:gradFill rotWithShape="1">
                  <a:gsLst>
                    <a:gs pos="0">
                      <a:srgbClr val="3987E5"/>
                    </a:gs>
                    <a:gs pos="72373">
                      <a:srgbClr val="199E70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프레젠테이션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761970" y="3788359"/>
            <a:ext cx="6134070" cy="586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카드, 라인·스택 차트, 표, 타임라인, 코드 패널, 캔버스 애니메이</a:t>
            </a:r>
            <a:endParaRPr lang="en-US" sz="1575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션을 외부 라이브러리 없이 한 파일에 담았습니다.</a:t>
            </a:r>
            <a:endParaRPr lang="en-US" sz="1575" dirty="0"/>
          </a:p>
        </p:txBody>
      </p:sp>
      <p:sp>
        <p:nvSpPr>
          <p:cNvPr id="7" name="Shape 3"/>
          <p:cNvSpPr/>
          <p:nvPr/>
        </p:nvSpPr>
        <p:spPr>
          <a:xfrm>
            <a:off x="761970" y="4635551"/>
            <a:ext cx="1551097" cy="371521"/>
          </a:xfrm>
          <a:prstGeom prst="roundRect">
            <a:avLst>
              <a:gd name="adj" fmla="val 49988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23910" y="4720681"/>
            <a:ext cx="122721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× 720 · 16:9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408347" y="4635551"/>
            <a:ext cx="1070945" cy="371521"/>
          </a:xfrm>
          <a:prstGeom prst="roundRect">
            <a:avLst>
              <a:gd name="adj" fmla="val 49988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70287" y="4720681"/>
            <a:ext cx="74715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슬라이드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574572" y="4635551"/>
            <a:ext cx="1737086" cy="371521"/>
          </a:xfrm>
          <a:prstGeom prst="roundRect">
            <a:avLst>
              <a:gd name="adj" fmla="val 49988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736513" y="4720681"/>
            <a:ext cx="141329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데이터 · 데모용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524780" y="1524030"/>
            <a:ext cx="3810030" cy="3810030"/>
          </a:xfrm>
          <a:custGeom>
            <a:avLst/>
            <a:gdLst/>
            <a:ahLst/>
            <a:cxnLst/>
            <a:rect l="l" t="t" r="r" b="b"/>
            <a:pathLst>
              <a:path w="3810030" h="3810030">
                <a:moveTo>
                  <a:pt x="3810030" y="1904970"/>
                </a:moveTo>
                <a:cubicBezTo>
                  <a:pt x="3810030" y="2957170"/>
                  <a:pt x="2957170" y="3810030"/>
                  <a:pt x="1904970" y="3810030"/>
                </a:cubicBezTo>
                <a:cubicBezTo>
                  <a:pt x="852861" y="3810030"/>
                  <a:pt x="0" y="2957170"/>
                  <a:pt x="0" y="1904970"/>
                </a:cubicBezTo>
                <a:cubicBezTo>
                  <a:pt x="0" y="852861"/>
                  <a:pt x="852861" y="0"/>
                  <a:pt x="1904970" y="0"/>
                </a:cubicBezTo>
                <a:cubicBezTo>
                  <a:pt x="2957170" y="0"/>
                  <a:pt x="3810030" y="852861"/>
                  <a:pt x="3810030" y="190497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05720" y="1904970"/>
            <a:ext cx="3047970" cy="3047970"/>
          </a:xfrm>
          <a:custGeom>
            <a:avLst/>
            <a:gdLst/>
            <a:ahLst/>
            <a:cxnLst/>
            <a:rect l="l" t="t" r="r" b="b"/>
            <a:pathLst>
              <a:path w="3047970" h="3047970">
                <a:moveTo>
                  <a:pt x="3047970" y="1524030"/>
                </a:moveTo>
                <a:cubicBezTo>
                  <a:pt x="3047970" y="2365736"/>
                  <a:pt x="2365736" y="3047970"/>
                  <a:pt x="1524030" y="3047970"/>
                </a:cubicBezTo>
                <a:cubicBezTo>
                  <a:pt x="682325" y="3047970"/>
                  <a:pt x="0" y="2365736"/>
                  <a:pt x="0" y="1524030"/>
                </a:cubicBezTo>
                <a:cubicBezTo>
                  <a:pt x="0" y="682325"/>
                  <a:pt x="682325" y="0"/>
                  <a:pt x="1524030" y="0"/>
                </a:cubicBezTo>
                <a:cubicBezTo>
                  <a:pt x="2365736" y="0"/>
                  <a:pt x="3047970" y="682325"/>
                  <a:pt x="3047970" y="152403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2030" y="2381280"/>
            <a:ext cx="2095530" cy="2095530"/>
          </a:xfrm>
          <a:custGeom>
            <a:avLst/>
            <a:gdLst/>
            <a:ahLst/>
            <a:cxnLst/>
            <a:rect l="l" t="t" r="r" b="b"/>
            <a:pathLst>
              <a:path w="2095530" h="2095530">
                <a:moveTo>
                  <a:pt x="2095530" y="1047720"/>
                </a:moveTo>
                <a:cubicBezTo>
                  <a:pt x="2095530" y="1626443"/>
                  <a:pt x="1626443" y="2095530"/>
                  <a:pt x="1047720" y="2095530"/>
                </a:cubicBezTo>
                <a:cubicBezTo>
                  <a:pt x="469087" y="2095530"/>
                  <a:pt x="0" y="1626443"/>
                  <a:pt x="0" y="1047720"/>
                </a:cubicBezTo>
                <a:cubicBezTo>
                  <a:pt x="0" y="469087"/>
                  <a:pt x="469087" y="0"/>
                  <a:pt x="1047720" y="0"/>
                </a:cubicBezTo>
                <a:cubicBezTo>
                  <a:pt x="1626443" y="0"/>
                  <a:pt x="2095530" y="469087"/>
                  <a:pt x="2095530" y="104772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858250" y="28575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cubicBezTo>
                  <a:pt x="1143000" y="887151"/>
                  <a:pt x="887151" y="1143000"/>
                  <a:pt x="571500" y="1143000"/>
                </a:cubicBezTo>
                <a:cubicBezTo>
                  <a:pt x="255849" y="1143000"/>
                  <a:pt x="0" y="887151"/>
                  <a:pt x="0" y="571500"/>
                </a:cubicBezTo>
                <a:cubicBezTo>
                  <a:pt x="0" y="255849"/>
                  <a:pt x="255849" y="0"/>
                  <a:pt x="571500" y="0"/>
                </a:cubicBezTo>
                <a:cubicBezTo>
                  <a:pt x="887151" y="0"/>
                  <a:pt x="1143000" y="255849"/>
                  <a:pt x="1143000" y="571500"/>
                </a:cubicBezTo>
                <a:close/>
              </a:path>
            </a:pathLst>
          </a:custGeom>
          <a:solidFill>
            <a:srgbClr val="3987E5">
              <a:alpha val="18000"/>
            </a:srgbClr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68379" y="3270443"/>
            <a:ext cx="72283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0982310" y="238128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3987E5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382280" y="333372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D95926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34470" y="180978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199E70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58221" y="441006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C98500"/>
          </a:solidFill>
          <a:ln w="19050">
            <a:solidFill>
              <a:srgbClr val="1A1A1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37780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 · 샘플 데이터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1970" y="876270"/>
            <a:ext cx="383087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 한눈에 보기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441649" y="1052474"/>
            <a:ext cx="2988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 변화 · 추세선은 최근 12개월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1970" y="1550640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0171" y="1765889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사용자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000171" y="2087209"/>
            <a:ext cx="1412108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1.28M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1000171" y="2654960"/>
            <a:ext cx="135239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5.8%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1034278" y="3124048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409560"/>
                </a:moveTo>
                <a:lnTo>
                  <a:pt x="180045" y="383134"/>
                </a:lnTo>
                <a:lnTo>
                  <a:pt x="360091" y="355793"/>
                </a:lnTo>
                <a:lnTo>
                  <a:pt x="540136" y="338785"/>
                </a:lnTo>
                <a:lnTo>
                  <a:pt x="720181" y="293522"/>
                </a:lnTo>
                <a:lnTo>
                  <a:pt x="900227" y="267096"/>
                </a:lnTo>
                <a:lnTo>
                  <a:pt x="1079358" y="231252"/>
                </a:lnTo>
                <a:lnTo>
                  <a:pt x="1259403" y="204826"/>
                </a:lnTo>
                <a:lnTo>
                  <a:pt x="1439448" y="160386"/>
                </a:lnTo>
                <a:lnTo>
                  <a:pt x="1619494" y="116037"/>
                </a:lnTo>
                <a:lnTo>
                  <a:pt x="1799539" y="62271"/>
                </a:lnTo>
                <a:lnTo>
                  <a:pt x="1979585" y="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34278" y="3124048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409560"/>
                </a:moveTo>
                <a:lnTo>
                  <a:pt x="180045" y="383134"/>
                </a:lnTo>
                <a:lnTo>
                  <a:pt x="360091" y="355793"/>
                </a:lnTo>
                <a:lnTo>
                  <a:pt x="540136" y="338785"/>
                </a:lnTo>
                <a:lnTo>
                  <a:pt x="720181" y="293522"/>
                </a:lnTo>
                <a:lnTo>
                  <a:pt x="900227" y="267096"/>
                </a:lnTo>
                <a:lnTo>
                  <a:pt x="1079358" y="231252"/>
                </a:lnTo>
                <a:lnTo>
                  <a:pt x="1259403" y="204826"/>
                </a:lnTo>
                <a:lnTo>
                  <a:pt x="1439448" y="160386"/>
                </a:lnTo>
                <a:lnTo>
                  <a:pt x="1619494" y="116037"/>
                </a:lnTo>
                <a:lnTo>
                  <a:pt x="1799539" y="62271"/>
                </a:lnTo>
                <a:lnTo>
                  <a:pt x="1979585" y="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9755" y="3089940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6640" y="1550640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14750" y="1765889"/>
            <a:ext cx="54278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3714750" y="2087209"/>
            <a:ext cx="154369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₩6.9억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3714750" y="2654960"/>
            <a:ext cx="135239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6.2%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3748857" y="3124048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409560"/>
                </a:moveTo>
                <a:lnTo>
                  <a:pt x="180045" y="377190"/>
                </a:lnTo>
                <a:lnTo>
                  <a:pt x="360091" y="355793"/>
                </a:lnTo>
                <a:lnTo>
                  <a:pt x="540136" y="290962"/>
                </a:lnTo>
                <a:lnTo>
                  <a:pt x="720181" y="237195"/>
                </a:lnTo>
                <a:lnTo>
                  <a:pt x="900227" y="204826"/>
                </a:lnTo>
                <a:lnTo>
                  <a:pt x="1079358" y="172364"/>
                </a:lnTo>
                <a:lnTo>
                  <a:pt x="1259403" y="139903"/>
                </a:lnTo>
                <a:lnTo>
                  <a:pt x="1439448" y="118598"/>
                </a:lnTo>
                <a:lnTo>
                  <a:pt x="1619494" y="75072"/>
                </a:lnTo>
                <a:lnTo>
                  <a:pt x="1799539" y="43525"/>
                </a:lnTo>
                <a:lnTo>
                  <a:pt x="1979585" y="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748857" y="3124048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409560"/>
                </a:moveTo>
                <a:lnTo>
                  <a:pt x="180045" y="377190"/>
                </a:lnTo>
                <a:lnTo>
                  <a:pt x="360091" y="355793"/>
                </a:lnTo>
                <a:lnTo>
                  <a:pt x="540136" y="290962"/>
                </a:lnTo>
                <a:lnTo>
                  <a:pt x="720181" y="237195"/>
                </a:lnTo>
                <a:lnTo>
                  <a:pt x="900227" y="204826"/>
                </a:lnTo>
                <a:lnTo>
                  <a:pt x="1079358" y="172364"/>
                </a:lnTo>
                <a:lnTo>
                  <a:pt x="1259403" y="139903"/>
                </a:lnTo>
                <a:lnTo>
                  <a:pt x="1439448" y="118598"/>
                </a:lnTo>
                <a:lnTo>
                  <a:pt x="1619494" y="75072"/>
                </a:lnTo>
                <a:lnTo>
                  <a:pt x="1799539" y="43525"/>
                </a:lnTo>
                <a:lnTo>
                  <a:pt x="1979585" y="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94335" y="3089940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91220" y="1550640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9421" y="1765889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6429421" y="2087209"/>
            <a:ext cx="1645737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99.92%</a:t>
            </a:r>
            <a:endParaRPr lang="en-US" sz="3750" dirty="0"/>
          </a:p>
        </p:txBody>
      </p:sp>
      <p:sp>
        <p:nvSpPr>
          <p:cNvPr id="23" name="Text 20"/>
          <p:cNvSpPr/>
          <p:nvPr/>
        </p:nvSpPr>
        <p:spPr>
          <a:xfrm>
            <a:off x="6429421" y="2654960"/>
            <a:ext cx="154762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FF7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0.03%p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6463528" y="3124048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68306"/>
                </a:moveTo>
                <a:lnTo>
                  <a:pt x="180045" y="0"/>
                </a:lnTo>
                <a:lnTo>
                  <a:pt x="360091" y="136520"/>
                </a:lnTo>
                <a:lnTo>
                  <a:pt x="540136" y="68306"/>
                </a:lnTo>
                <a:lnTo>
                  <a:pt x="720181" y="136520"/>
                </a:lnTo>
                <a:lnTo>
                  <a:pt x="900227" y="204826"/>
                </a:lnTo>
                <a:lnTo>
                  <a:pt x="1079358" y="136520"/>
                </a:lnTo>
                <a:lnTo>
                  <a:pt x="1259403" y="273040"/>
                </a:lnTo>
                <a:lnTo>
                  <a:pt x="1439448" y="204826"/>
                </a:lnTo>
                <a:lnTo>
                  <a:pt x="1619494" y="204826"/>
                </a:lnTo>
                <a:lnTo>
                  <a:pt x="1799539" y="204826"/>
                </a:lnTo>
                <a:lnTo>
                  <a:pt x="1979585" y="40956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63528" y="3124048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68306"/>
                </a:moveTo>
                <a:lnTo>
                  <a:pt x="180045" y="0"/>
                </a:lnTo>
                <a:lnTo>
                  <a:pt x="360091" y="136520"/>
                </a:lnTo>
                <a:lnTo>
                  <a:pt x="540136" y="68306"/>
                </a:lnTo>
                <a:lnTo>
                  <a:pt x="720181" y="136520"/>
                </a:lnTo>
                <a:lnTo>
                  <a:pt x="900227" y="204826"/>
                </a:lnTo>
                <a:lnTo>
                  <a:pt x="1079358" y="136520"/>
                </a:lnTo>
                <a:lnTo>
                  <a:pt x="1259403" y="273040"/>
                </a:lnTo>
                <a:lnTo>
                  <a:pt x="1439448" y="204826"/>
                </a:lnTo>
                <a:lnTo>
                  <a:pt x="1619494" y="204826"/>
                </a:lnTo>
                <a:lnTo>
                  <a:pt x="1799539" y="204826"/>
                </a:lnTo>
                <a:lnTo>
                  <a:pt x="1979585" y="40956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09005" y="3499500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05890" y="1550640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0" y="1765889"/>
            <a:ext cx="10853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응답 시간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9144000" y="2087209"/>
            <a:ext cx="148782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182ms</a:t>
            </a:r>
            <a:endParaRPr lang="en-US" sz="3750" dirty="0"/>
          </a:p>
        </p:txBody>
      </p:sp>
      <p:sp>
        <p:nvSpPr>
          <p:cNvPr id="30" name="Text 27"/>
          <p:cNvSpPr/>
          <p:nvPr/>
        </p:nvSpPr>
        <p:spPr>
          <a:xfrm>
            <a:off x="9144000" y="2654960"/>
            <a:ext cx="101169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11ms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9178107" y="3124048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0"/>
                </a:moveTo>
                <a:lnTo>
                  <a:pt x="180045" y="95555"/>
                </a:lnTo>
                <a:lnTo>
                  <a:pt x="360091" y="54590"/>
                </a:lnTo>
                <a:lnTo>
                  <a:pt x="540136" y="177485"/>
                </a:lnTo>
                <a:lnTo>
                  <a:pt x="720181" y="150144"/>
                </a:lnTo>
                <a:lnTo>
                  <a:pt x="900227" y="218450"/>
                </a:lnTo>
                <a:lnTo>
                  <a:pt x="1079358" y="259415"/>
                </a:lnTo>
                <a:lnTo>
                  <a:pt x="1259403" y="300380"/>
                </a:lnTo>
                <a:lnTo>
                  <a:pt x="1439448" y="327630"/>
                </a:lnTo>
                <a:lnTo>
                  <a:pt x="1619494" y="286664"/>
                </a:lnTo>
                <a:lnTo>
                  <a:pt x="1799539" y="259415"/>
                </a:lnTo>
                <a:lnTo>
                  <a:pt x="1979585" y="40956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178107" y="3124048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0"/>
                </a:moveTo>
                <a:lnTo>
                  <a:pt x="180045" y="95555"/>
                </a:lnTo>
                <a:lnTo>
                  <a:pt x="360091" y="54590"/>
                </a:lnTo>
                <a:lnTo>
                  <a:pt x="540136" y="177485"/>
                </a:lnTo>
                <a:lnTo>
                  <a:pt x="720181" y="150144"/>
                </a:lnTo>
                <a:lnTo>
                  <a:pt x="900227" y="218450"/>
                </a:lnTo>
                <a:lnTo>
                  <a:pt x="1079358" y="259415"/>
                </a:lnTo>
                <a:lnTo>
                  <a:pt x="1259403" y="300380"/>
                </a:lnTo>
                <a:lnTo>
                  <a:pt x="1439448" y="327630"/>
                </a:lnTo>
                <a:lnTo>
                  <a:pt x="1619494" y="286664"/>
                </a:lnTo>
                <a:lnTo>
                  <a:pt x="1799539" y="259415"/>
                </a:lnTo>
                <a:lnTo>
                  <a:pt x="1979585" y="40956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123585" y="3499500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1970" y="4043202"/>
            <a:ext cx="4190970" cy="2281428"/>
          </a:xfrm>
          <a:prstGeom prst="roundRect">
            <a:avLst>
              <a:gd name="adj" fmla="val 668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43000" y="4612325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cubicBezTo>
                  <a:pt x="1143000" y="887151"/>
                  <a:pt x="887151" y="1143000"/>
                  <a:pt x="571500" y="1143000"/>
                </a:cubicBezTo>
                <a:cubicBezTo>
                  <a:pt x="255849" y="1143000"/>
                  <a:pt x="0" y="887151"/>
                  <a:pt x="0" y="571500"/>
                </a:cubicBezTo>
                <a:cubicBezTo>
                  <a:pt x="0" y="255849"/>
                  <a:pt x="255849" y="0"/>
                  <a:pt x="571500" y="0"/>
                </a:cubicBezTo>
                <a:cubicBezTo>
                  <a:pt x="887151" y="0"/>
                  <a:pt x="1143000" y="255849"/>
                  <a:pt x="1143000" y="571500"/>
                </a:cubicBezTo>
                <a:close/>
              </a:path>
            </a:pathLst>
          </a:custGeom>
          <a:ln w="152400">
            <a:solidFill>
              <a:srgbClr val="184F9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53241" y="4612325"/>
            <a:ext cx="1132759" cy="1143000"/>
          </a:xfrm>
          <a:custGeom>
            <a:avLst/>
            <a:gdLst/>
            <a:ahLst/>
            <a:cxnLst/>
            <a:rect l="l" t="t" r="r" b="b"/>
            <a:pathLst>
              <a:path w="1132759" h="1143000">
                <a:moveTo>
                  <a:pt x="561259" y="0"/>
                </a:moveTo>
                <a:lnTo>
                  <a:pt x="600395" y="1280"/>
                </a:lnTo>
                <a:lnTo>
                  <a:pt x="638800" y="5212"/>
                </a:lnTo>
                <a:lnTo>
                  <a:pt x="676473" y="11613"/>
                </a:lnTo>
                <a:lnTo>
                  <a:pt x="713232" y="20391"/>
                </a:lnTo>
                <a:lnTo>
                  <a:pt x="748985" y="31547"/>
                </a:lnTo>
                <a:lnTo>
                  <a:pt x="783732" y="44897"/>
                </a:lnTo>
                <a:lnTo>
                  <a:pt x="817382" y="60442"/>
                </a:lnTo>
                <a:lnTo>
                  <a:pt x="849752" y="77998"/>
                </a:lnTo>
                <a:lnTo>
                  <a:pt x="880842" y="97566"/>
                </a:lnTo>
                <a:lnTo>
                  <a:pt x="910468" y="119055"/>
                </a:lnTo>
                <a:lnTo>
                  <a:pt x="938723" y="142372"/>
                </a:lnTo>
                <a:lnTo>
                  <a:pt x="965424" y="167427"/>
                </a:lnTo>
                <a:lnTo>
                  <a:pt x="990387" y="194036"/>
                </a:lnTo>
                <a:lnTo>
                  <a:pt x="1013704" y="222291"/>
                </a:lnTo>
                <a:lnTo>
                  <a:pt x="1035192" y="252009"/>
                </a:lnTo>
                <a:lnTo>
                  <a:pt x="1054760" y="283007"/>
                </a:lnTo>
                <a:lnTo>
                  <a:pt x="1072317" y="315468"/>
                </a:lnTo>
                <a:lnTo>
                  <a:pt x="1087862" y="349026"/>
                </a:lnTo>
                <a:lnTo>
                  <a:pt x="1101212" y="383774"/>
                </a:lnTo>
                <a:lnTo>
                  <a:pt x="1112368" y="419527"/>
                </a:lnTo>
                <a:lnTo>
                  <a:pt x="1121146" y="456286"/>
                </a:lnTo>
                <a:lnTo>
                  <a:pt x="1127547" y="493959"/>
                </a:lnTo>
                <a:lnTo>
                  <a:pt x="1131479" y="532364"/>
                </a:lnTo>
                <a:lnTo>
                  <a:pt x="1132759" y="571500"/>
                </a:lnTo>
                <a:lnTo>
                  <a:pt x="1131479" y="610636"/>
                </a:lnTo>
                <a:lnTo>
                  <a:pt x="1127547" y="649041"/>
                </a:lnTo>
                <a:lnTo>
                  <a:pt x="1121146" y="686714"/>
                </a:lnTo>
                <a:lnTo>
                  <a:pt x="1112368" y="723473"/>
                </a:lnTo>
                <a:lnTo>
                  <a:pt x="1101212" y="759226"/>
                </a:lnTo>
                <a:lnTo>
                  <a:pt x="1087862" y="793974"/>
                </a:lnTo>
                <a:lnTo>
                  <a:pt x="1072317" y="827532"/>
                </a:lnTo>
                <a:lnTo>
                  <a:pt x="1054760" y="859993"/>
                </a:lnTo>
                <a:lnTo>
                  <a:pt x="1035192" y="890991"/>
                </a:lnTo>
                <a:lnTo>
                  <a:pt x="1013704" y="920709"/>
                </a:lnTo>
                <a:lnTo>
                  <a:pt x="990387" y="948964"/>
                </a:lnTo>
                <a:lnTo>
                  <a:pt x="965424" y="975573"/>
                </a:lnTo>
                <a:lnTo>
                  <a:pt x="938723" y="1000628"/>
                </a:lnTo>
                <a:lnTo>
                  <a:pt x="910468" y="1023945"/>
                </a:lnTo>
                <a:lnTo>
                  <a:pt x="880842" y="1045434"/>
                </a:lnTo>
                <a:lnTo>
                  <a:pt x="849752" y="1065002"/>
                </a:lnTo>
                <a:lnTo>
                  <a:pt x="817382" y="1082558"/>
                </a:lnTo>
                <a:lnTo>
                  <a:pt x="783732" y="1098103"/>
                </a:lnTo>
                <a:lnTo>
                  <a:pt x="748985" y="1111453"/>
                </a:lnTo>
                <a:lnTo>
                  <a:pt x="713232" y="1122609"/>
                </a:lnTo>
                <a:lnTo>
                  <a:pt x="676473" y="1131387"/>
                </a:lnTo>
                <a:lnTo>
                  <a:pt x="638800" y="1137788"/>
                </a:lnTo>
                <a:lnTo>
                  <a:pt x="600395" y="1141720"/>
                </a:lnTo>
                <a:lnTo>
                  <a:pt x="561259" y="1143000"/>
                </a:lnTo>
                <a:lnTo>
                  <a:pt x="522122" y="1141720"/>
                </a:lnTo>
                <a:lnTo>
                  <a:pt x="483718" y="1137788"/>
                </a:lnTo>
                <a:lnTo>
                  <a:pt x="446136" y="1131387"/>
                </a:lnTo>
                <a:lnTo>
                  <a:pt x="409377" y="1122609"/>
                </a:lnTo>
                <a:lnTo>
                  <a:pt x="373532" y="1111453"/>
                </a:lnTo>
                <a:lnTo>
                  <a:pt x="338785" y="1098103"/>
                </a:lnTo>
                <a:lnTo>
                  <a:pt x="305227" y="1082558"/>
                </a:lnTo>
                <a:lnTo>
                  <a:pt x="272857" y="1065002"/>
                </a:lnTo>
                <a:lnTo>
                  <a:pt x="241767" y="1045434"/>
                </a:lnTo>
                <a:lnTo>
                  <a:pt x="212049" y="1023945"/>
                </a:lnTo>
                <a:lnTo>
                  <a:pt x="183794" y="1000628"/>
                </a:lnTo>
                <a:lnTo>
                  <a:pt x="157185" y="975573"/>
                </a:lnTo>
                <a:lnTo>
                  <a:pt x="132131" y="948964"/>
                </a:lnTo>
                <a:lnTo>
                  <a:pt x="108814" y="920709"/>
                </a:lnTo>
                <a:lnTo>
                  <a:pt x="87417" y="890991"/>
                </a:lnTo>
                <a:lnTo>
                  <a:pt x="67848" y="859993"/>
                </a:lnTo>
                <a:lnTo>
                  <a:pt x="50201" y="827532"/>
                </a:lnTo>
                <a:lnTo>
                  <a:pt x="34656" y="793974"/>
                </a:lnTo>
                <a:lnTo>
                  <a:pt x="21306" y="759226"/>
                </a:lnTo>
                <a:lnTo>
                  <a:pt x="10150" y="723473"/>
                </a:lnTo>
                <a:lnTo>
                  <a:pt x="1372" y="686714"/>
                </a:lnTo>
                <a:lnTo>
                  <a:pt x="0" y="678485"/>
                </a:lnTo>
              </a:path>
            </a:pathLst>
          </a:custGeom>
          <a:ln w="152400">
            <a:solidFill>
              <a:srgbClr val="3987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95560" y="4691238"/>
            <a:ext cx="162818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분기 목표 달성률</a:t>
            </a:r>
            <a:endParaRPr lang="en-US" sz="1275" dirty="0"/>
          </a:p>
        </p:txBody>
      </p:sp>
      <p:sp>
        <p:nvSpPr>
          <p:cNvPr id="38" name="Text 35"/>
          <p:cNvSpPr/>
          <p:nvPr/>
        </p:nvSpPr>
        <p:spPr>
          <a:xfrm>
            <a:off x="2695560" y="4946995"/>
            <a:ext cx="85276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72%</a:t>
            </a:r>
            <a:endParaRPr lang="en-US" sz="3300" dirty="0"/>
          </a:p>
        </p:txBody>
      </p:sp>
      <p:sp>
        <p:nvSpPr>
          <p:cNvPr id="39" name="Text 36"/>
          <p:cNvSpPr/>
          <p:nvPr/>
        </p:nvSpPr>
        <p:spPr>
          <a:xfrm>
            <a:off x="2695560" y="5403007"/>
            <a:ext cx="18545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4.5억 · 실적 3.24억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5143500" y="4043202"/>
            <a:ext cx="6286500" cy="2281428"/>
          </a:xfrm>
          <a:prstGeom prst="roundRect">
            <a:avLst>
              <a:gd name="adj" fmla="val 668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81610" y="4511558"/>
            <a:ext cx="140927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예산 집행률</a:t>
            </a:r>
            <a:endParaRPr lang="en-US" sz="1275" dirty="0"/>
          </a:p>
        </p:txBody>
      </p:sp>
      <p:sp>
        <p:nvSpPr>
          <p:cNvPr id="42" name="Text 39"/>
          <p:cNvSpPr/>
          <p:nvPr/>
        </p:nvSpPr>
        <p:spPr>
          <a:xfrm>
            <a:off x="5381610" y="4906122"/>
            <a:ext cx="51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6391290" y="4966381"/>
            <a:ext cx="4038630" cy="95280"/>
          </a:xfrm>
          <a:prstGeom prst="roundRect">
            <a:avLst>
              <a:gd name="adj" fmla="val 50000"/>
            </a:avLst>
          </a:prstGeom>
          <a:solidFill>
            <a:srgbClr val="184F95"/>
          </a:solidFill>
          <a:ln/>
        </p:spPr>
      </p:sp>
      <p:sp>
        <p:nvSpPr>
          <p:cNvPr id="44" name="Shape 41"/>
          <p:cNvSpPr/>
          <p:nvPr/>
        </p:nvSpPr>
        <p:spPr>
          <a:xfrm>
            <a:off x="6391290" y="4966381"/>
            <a:ext cx="2584734" cy="9528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45" name="Text 42"/>
          <p:cNvSpPr/>
          <p:nvPr/>
        </p:nvSpPr>
        <p:spPr>
          <a:xfrm>
            <a:off x="10582260" y="4906122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64%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5381610" y="526804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6391290" y="5328300"/>
            <a:ext cx="4038630" cy="95280"/>
          </a:xfrm>
          <a:prstGeom prst="roundRect">
            <a:avLst>
              <a:gd name="adj" fmla="val 50000"/>
            </a:avLst>
          </a:prstGeom>
          <a:solidFill>
            <a:srgbClr val="184F95"/>
          </a:solidFill>
          <a:ln/>
        </p:spPr>
      </p:sp>
      <p:sp>
        <p:nvSpPr>
          <p:cNvPr id="48" name="Shape 45"/>
          <p:cNvSpPr/>
          <p:nvPr/>
        </p:nvSpPr>
        <p:spPr>
          <a:xfrm>
            <a:off x="6391290" y="5328300"/>
            <a:ext cx="3553907" cy="9528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49" name="Text 46"/>
          <p:cNvSpPr/>
          <p:nvPr/>
        </p:nvSpPr>
        <p:spPr>
          <a:xfrm>
            <a:off x="10582260" y="5268041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88%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5381610" y="5630052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6391290" y="5690311"/>
            <a:ext cx="4038630" cy="95280"/>
          </a:xfrm>
          <a:prstGeom prst="roundRect">
            <a:avLst>
              <a:gd name="adj" fmla="val 50000"/>
            </a:avLst>
          </a:prstGeom>
          <a:solidFill>
            <a:srgbClr val="184F95"/>
          </a:solidFill>
          <a:ln/>
        </p:spPr>
      </p:sp>
      <p:sp>
        <p:nvSpPr>
          <p:cNvPr id="52" name="Shape 49"/>
          <p:cNvSpPr/>
          <p:nvPr/>
        </p:nvSpPr>
        <p:spPr>
          <a:xfrm>
            <a:off x="6391290" y="5690311"/>
            <a:ext cx="2059595" cy="9528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53" name="Text 50"/>
          <p:cNvSpPr/>
          <p:nvPr/>
        </p:nvSpPr>
        <p:spPr>
          <a:xfrm>
            <a:off x="10582260" y="5630052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51%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336475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 · 2026 연간 (샘플)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1970" y="876270"/>
            <a:ext cx="510436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추이 — 두 시리즈, 한 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816816" y="874349"/>
            <a:ext cx="1613184" cy="447690"/>
          </a:xfrm>
          <a:prstGeom prst="roundRect">
            <a:avLst>
              <a:gd name="adj" fmla="val 2553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16886" y="997519"/>
            <a:ext cx="388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596159" y="921990"/>
            <a:ext cx="786293" cy="352410"/>
          </a:xfrm>
          <a:prstGeom prst="roundRect">
            <a:avLst>
              <a:gd name="adj" fmla="val 21614"/>
            </a:avLst>
          </a:prstGeom>
          <a:solidFill>
            <a:srgbClr val="242422"/>
          </a:solidFill>
          <a:ln/>
        </p:spPr>
      </p:sp>
      <p:sp>
        <p:nvSpPr>
          <p:cNvPr id="8" name="Text 5"/>
          <p:cNvSpPr/>
          <p:nvPr/>
        </p:nvSpPr>
        <p:spPr>
          <a:xfrm>
            <a:off x="10748498" y="997519"/>
            <a:ext cx="48143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1970" y="1550640"/>
            <a:ext cx="6400800" cy="4773991"/>
          </a:xfrm>
          <a:prstGeom prst="roundRect">
            <a:avLst>
              <a:gd name="adj" fmla="val 319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0171" y="1822125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3987E5"/>
          </a:solidFill>
          <a:ln/>
        </p:spPr>
      </p:sp>
      <p:sp>
        <p:nvSpPr>
          <p:cNvPr id="11" name="Text 8"/>
          <p:cNvSpPr/>
          <p:nvPr/>
        </p:nvSpPr>
        <p:spPr>
          <a:xfrm>
            <a:off x="1190640" y="1775033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1724010" y="1822125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D95926"/>
          </a:solidFill>
          <a:ln/>
        </p:spPr>
      </p:sp>
      <p:sp>
        <p:nvSpPr>
          <p:cNvPr id="13" name="Text 10"/>
          <p:cNvSpPr/>
          <p:nvPr/>
        </p:nvSpPr>
        <p:spPr>
          <a:xfrm>
            <a:off x="1914571" y="1775033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6174577" y="1778599"/>
            <a:ext cx="7500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 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6270" y="1907804"/>
            <a:ext cx="247620" cy="171450"/>
          </a:xfrm>
          <a:prstGeom prst="roundRect">
            <a:avLst>
              <a:gd name="adj" fmla="val 50027"/>
            </a:avLst>
          </a:prstGeom>
          <a:solidFill>
            <a:srgbClr val="242422">
              <a:alpha val="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81511" y="5232471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3838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22919" y="5134539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1481511" y="4491899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2919" y="4394058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1481511" y="3751326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2919" y="3653485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481511" y="3010845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22919" y="2912913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1481511" y="2270272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2919" y="2172340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1342979" y="5310469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1790670" y="5310469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2238360" y="5310469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2686050" y="5310469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3133832" y="5310469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581522" y="5310469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4029212" y="5310469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4476902" y="5310469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4924593" y="5310469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5336621" y="5310469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5784312" y="5310469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6232002" y="5310469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1481511" y="2677546"/>
            <a:ext cx="4924684" cy="2554925"/>
          </a:xfrm>
          <a:custGeom>
            <a:avLst/>
            <a:gdLst/>
            <a:ahLst/>
            <a:cxnLst/>
            <a:rect l="l" t="t" r="r" b="b"/>
            <a:pathLst>
              <a:path w="4924684" h="2554925">
                <a:moveTo>
                  <a:pt x="0" y="1407079"/>
                </a:moveTo>
                <a:lnTo>
                  <a:pt x="448056" y="1295979"/>
                </a:lnTo>
                <a:lnTo>
                  <a:pt x="895106" y="1221913"/>
                </a:lnTo>
                <a:lnTo>
                  <a:pt x="1343162" y="999714"/>
                </a:lnTo>
                <a:lnTo>
                  <a:pt x="1791218" y="814639"/>
                </a:lnTo>
                <a:lnTo>
                  <a:pt x="2238360" y="703539"/>
                </a:lnTo>
                <a:lnTo>
                  <a:pt x="2686324" y="592440"/>
                </a:lnTo>
                <a:lnTo>
                  <a:pt x="3133466" y="481340"/>
                </a:lnTo>
                <a:lnTo>
                  <a:pt x="3581522" y="407274"/>
                </a:lnTo>
                <a:lnTo>
                  <a:pt x="4029578" y="259232"/>
                </a:lnTo>
                <a:lnTo>
                  <a:pt x="4476628" y="148133"/>
                </a:lnTo>
                <a:lnTo>
                  <a:pt x="4924684" y="0"/>
                </a:lnTo>
                <a:lnTo>
                  <a:pt x="4924684" y="2554925"/>
                </a:lnTo>
                <a:lnTo>
                  <a:pt x="0" y="2554925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481511" y="3862426"/>
            <a:ext cx="4924684" cy="407274"/>
          </a:xfrm>
          <a:custGeom>
            <a:avLst/>
            <a:gdLst/>
            <a:ahLst/>
            <a:cxnLst/>
            <a:rect l="l" t="t" r="r" b="b"/>
            <a:pathLst>
              <a:path w="4924684" h="407274">
                <a:moveTo>
                  <a:pt x="0" y="407274"/>
                </a:moveTo>
                <a:lnTo>
                  <a:pt x="448056" y="370241"/>
                </a:lnTo>
                <a:lnTo>
                  <a:pt x="895106" y="333207"/>
                </a:lnTo>
                <a:lnTo>
                  <a:pt x="1343162" y="296266"/>
                </a:lnTo>
                <a:lnTo>
                  <a:pt x="1791218" y="222199"/>
                </a:lnTo>
                <a:lnTo>
                  <a:pt x="2238360" y="259232"/>
                </a:lnTo>
                <a:lnTo>
                  <a:pt x="2686324" y="148133"/>
                </a:lnTo>
                <a:lnTo>
                  <a:pt x="3133466" y="111100"/>
                </a:lnTo>
                <a:lnTo>
                  <a:pt x="3581522" y="185166"/>
                </a:lnTo>
                <a:lnTo>
                  <a:pt x="4029578" y="74066"/>
                </a:lnTo>
                <a:lnTo>
                  <a:pt x="4476628" y="37033"/>
                </a:lnTo>
                <a:lnTo>
                  <a:pt x="4924684" y="0"/>
                </a:lnTo>
              </a:path>
            </a:pathLst>
          </a:custGeom>
          <a:ln w="18542">
            <a:solidFill>
              <a:srgbClr val="D9592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81511" y="2677546"/>
            <a:ext cx="4924684" cy="1407079"/>
          </a:xfrm>
          <a:custGeom>
            <a:avLst/>
            <a:gdLst/>
            <a:ahLst/>
            <a:cxnLst/>
            <a:rect l="l" t="t" r="r" b="b"/>
            <a:pathLst>
              <a:path w="4924684" h="1407079">
                <a:moveTo>
                  <a:pt x="0" y="1407079"/>
                </a:moveTo>
                <a:lnTo>
                  <a:pt x="448056" y="1295979"/>
                </a:lnTo>
                <a:lnTo>
                  <a:pt x="895106" y="1221913"/>
                </a:lnTo>
                <a:lnTo>
                  <a:pt x="1343162" y="999714"/>
                </a:lnTo>
                <a:lnTo>
                  <a:pt x="1791218" y="814639"/>
                </a:lnTo>
                <a:lnTo>
                  <a:pt x="2238360" y="703539"/>
                </a:lnTo>
                <a:lnTo>
                  <a:pt x="2686324" y="592440"/>
                </a:lnTo>
                <a:lnTo>
                  <a:pt x="3133466" y="481340"/>
                </a:lnTo>
                <a:lnTo>
                  <a:pt x="3581522" y="407274"/>
                </a:lnTo>
                <a:lnTo>
                  <a:pt x="4029578" y="259232"/>
                </a:lnTo>
                <a:lnTo>
                  <a:pt x="4476628" y="148133"/>
                </a:lnTo>
                <a:lnTo>
                  <a:pt x="4924684" y="0"/>
                </a:lnTo>
              </a:path>
            </a:pathLst>
          </a:custGeom>
          <a:ln w="18542">
            <a:solidFill>
              <a:srgbClr val="3987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69162" y="2640513"/>
            <a:ext cx="74066" cy="74066"/>
          </a:xfrm>
          <a:custGeom>
            <a:avLst/>
            <a:gdLst/>
            <a:ahLst/>
            <a:cxnLst/>
            <a:rect l="l" t="t" r="r" b="b"/>
            <a:pathLst>
              <a:path w="74066" h="74066">
                <a:moveTo>
                  <a:pt x="74066" y="37033"/>
                </a:moveTo>
                <a:cubicBezTo>
                  <a:pt x="74066" y="57516"/>
                  <a:pt x="57516" y="74066"/>
                  <a:pt x="37033" y="74066"/>
                </a:cubicBezTo>
                <a:cubicBezTo>
                  <a:pt x="16551" y="74066"/>
                  <a:pt x="0" y="57516"/>
                  <a:pt x="0" y="37033"/>
                </a:cubicBezTo>
                <a:cubicBezTo>
                  <a:pt x="0" y="16551"/>
                  <a:pt x="16551" y="0"/>
                  <a:pt x="37033" y="0"/>
                </a:cubicBezTo>
                <a:cubicBezTo>
                  <a:pt x="57516" y="0"/>
                  <a:pt x="74066" y="16551"/>
                  <a:pt x="74066" y="37033"/>
                </a:cubicBezTo>
                <a:close/>
              </a:path>
            </a:pathLst>
          </a:custGeom>
          <a:solidFill>
            <a:srgbClr val="3987E5"/>
          </a:solidFill>
          <a:ln w="18542">
            <a:solidFill>
              <a:srgbClr val="1A1A1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17295" y="2571293"/>
            <a:ext cx="273406" cy="166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</a:t>
            </a:r>
            <a:endParaRPr lang="en-US" sz="1093" dirty="0"/>
          </a:p>
        </p:txBody>
      </p:sp>
      <p:sp>
        <p:nvSpPr>
          <p:cNvPr id="43" name="Shape 40"/>
          <p:cNvSpPr/>
          <p:nvPr/>
        </p:nvSpPr>
        <p:spPr>
          <a:xfrm>
            <a:off x="6369162" y="3825392"/>
            <a:ext cx="74066" cy="74066"/>
          </a:xfrm>
          <a:custGeom>
            <a:avLst/>
            <a:gdLst/>
            <a:ahLst/>
            <a:cxnLst/>
            <a:rect l="l" t="t" r="r" b="b"/>
            <a:pathLst>
              <a:path w="74066" h="74066">
                <a:moveTo>
                  <a:pt x="74066" y="37033"/>
                </a:moveTo>
                <a:cubicBezTo>
                  <a:pt x="74066" y="57516"/>
                  <a:pt x="57516" y="74066"/>
                  <a:pt x="37033" y="74066"/>
                </a:cubicBezTo>
                <a:cubicBezTo>
                  <a:pt x="16551" y="74066"/>
                  <a:pt x="0" y="57516"/>
                  <a:pt x="0" y="37033"/>
                </a:cubicBezTo>
                <a:cubicBezTo>
                  <a:pt x="0" y="16551"/>
                  <a:pt x="16551" y="0"/>
                  <a:pt x="37033" y="0"/>
                </a:cubicBezTo>
                <a:cubicBezTo>
                  <a:pt x="57516" y="0"/>
                  <a:pt x="74066" y="16551"/>
                  <a:pt x="74066" y="37033"/>
                </a:cubicBezTo>
                <a:close/>
              </a:path>
            </a:pathLst>
          </a:custGeom>
          <a:solidFill>
            <a:srgbClr val="D95926"/>
          </a:solidFill>
          <a:ln w="18542">
            <a:solidFill>
              <a:srgbClr val="1A1A1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7295" y="3756172"/>
            <a:ext cx="273406" cy="166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</a:t>
            </a:r>
            <a:endParaRPr lang="en-US" sz="1093" dirty="0"/>
          </a:p>
        </p:txBody>
      </p:sp>
      <p:sp>
        <p:nvSpPr>
          <p:cNvPr id="45" name="Shape 42"/>
          <p:cNvSpPr/>
          <p:nvPr/>
        </p:nvSpPr>
        <p:spPr>
          <a:xfrm>
            <a:off x="1481511" y="2270272"/>
            <a:ext cx="4924684" cy="2962199"/>
          </a:xfrm>
          <a:prstGeom prst="rect">
            <a:avLst/>
          </a:prstGeom>
          <a:ln/>
        </p:spPr>
      </p:sp>
      <p:sp>
        <p:nvSpPr>
          <p:cNvPr id="46" name="Shape 43"/>
          <p:cNvSpPr/>
          <p:nvPr/>
        </p:nvSpPr>
        <p:spPr>
          <a:xfrm>
            <a:off x="7429500" y="1550640"/>
            <a:ext cx="4000500" cy="4773991"/>
          </a:xfrm>
          <a:prstGeom prst="roundRect">
            <a:avLst>
              <a:gd name="adj" fmla="val 381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67610" y="1767078"/>
            <a:ext cx="107762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요약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7667610" y="2439253"/>
            <a:ext cx="692749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49" name="Text 46"/>
          <p:cNvSpPr/>
          <p:nvPr/>
        </p:nvSpPr>
        <p:spPr>
          <a:xfrm>
            <a:off x="7743871" y="2167219"/>
            <a:ext cx="30477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8360451" y="2439253"/>
            <a:ext cx="58357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1" name="Text 48"/>
          <p:cNvSpPr/>
          <p:nvPr/>
        </p:nvSpPr>
        <p:spPr>
          <a:xfrm>
            <a:off x="8436620" y="2167219"/>
            <a:ext cx="43114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944021" y="2439253"/>
            <a:ext cx="58357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3" name="Text 50"/>
          <p:cNvSpPr/>
          <p:nvPr/>
        </p:nvSpPr>
        <p:spPr>
          <a:xfrm>
            <a:off x="9020190" y="2167219"/>
            <a:ext cx="43114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9527499" y="2439253"/>
            <a:ext cx="1664299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5" name="Text 52"/>
          <p:cNvSpPr/>
          <p:nvPr/>
        </p:nvSpPr>
        <p:spPr>
          <a:xfrm>
            <a:off x="9603760" y="2167219"/>
            <a:ext cx="151196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이익률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667610" y="2896453"/>
            <a:ext cx="69274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7" name="Text 54"/>
          <p:cNvSpPr/>
          <p:nvPr/>
        </p:nvSpPr>
        <p:spPr>
          <a:xfrm>
            <a:off x="7743871" y="2573213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1분기</a:t>
            </a:r>
            <a:endParaRPr lang="en-US" sz="1275" dirty="0"/>
          </a:p>
        </p:txBody>
      </p:sp>
      <p:sp>
        <p:nvSpPr>
          <p:cNvPr id="58" name="Shape 55"/>
          <p:cNvSpPr/>
          <p:nvPr/>
        </p:nvSpPr>
        <p:spPr>
          <a:xfrm>
            <a:off x="8360451" y="2896453"/>
            <a:ext cx="5835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9" name="Text 56"/>
          <p:cNvSpPr/>
          <p:nvPr/>
        </p:nvSpPr>
        <p:spPr>
          <a:xfrm>
            <a:off x="8436620" y="25732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</a:t>
            </a:r>
            <a:endParaRPr lang="en-US" sz="1275" dirty="0"/>
          </a:p>
        </p:txBody>
      </p:sp>
      <p:sp>
        <p:nvSpPr>
          <p:cNvPr id="60" name="Shape 57"/>
          <p:cNvSpPr/>
          <p:nvPr/>
        </p:nvSpPr>
        <p:spPr>
          <a:xfrm>
            <a:off x="8944021" y="2896453"/>
            <a:ext cx="5835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1" name="Text 58"/>
          <p:cNvSpPr/>
          <p:nvPr/>
        </p:nvSpPr>
        <p:spPr>
          <a:xfrm>
            <a:off x="9020190" y="25732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</a:t>
            </a:r>
            <a:endParaRPr lang="en-US" sz="1275" dirty="0"/>
          </a:p>
        </p:txBody>
      </p:sp>
      <p:sp>
        <p:nvSpPr>
          <p:cNvPr id="62" name="Shape 59"/>
          <p:cNvSpPr/>
          <p:nvPr/>
        </p:nvSpPr>
        <p:spPr>
          <a:xfrm>
            <a:off x="9527499" y="2896453"/>
            <a:ext cx="166429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3" name="Text 60"/>
          <p:cNvSpPr/>
          <p:nvPr/>
        </p:nvSpPr>
        <p:spPr>
          <a:xfrm>
            <a:off x="9565630" y="2573213"/>
            <a:ext cx="154999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19.8%</a:t>
            </a:r>
            <a:pPr algn="r" indent="0" marL="0">
              <a:lnSpc>
                <a:spcPts val="153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algn="r" indent="0" marL="0">
              <a:lnSpc>
                <a:spcPts val="153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275" dirty="0"/>
          </a:p>
        </p:txBody>
      </p:sp>
      <p:sp>
        <p:nvSpPr>
          <p:cNvPr id="64" name="Shape 61"/>
          <p:cNvSpPr/>
          <p:nvPr/>
        </p:nvSpPr>
        <p:spPr>
          <a:xfrm>
            <a:off x="7667610" y="3353653"/>
            <a:ext cx="69274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5" name="Text 62"/>
          <p:cNvSpPr/>
          <p:nvPr/>
        </p:nvSpPr>
        <p:spPr>
          <a:xfrm>
            <a:off x="7743871" y="3030413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2분기</a:t>
            </a:r>
            <a:endParaRPr lang="en-US" sz="1275" dirty="0"/>
          </a:p>
        </p:txBody>
      </p:sp>
      <p:sp>
        <p:nvSpPr>
          <p:cNvPr id="66" name="Shape 63"/>
          <p:cNvSpPr/>
          <p:nvPr/>
        </p:nvSpPr>
        <p:spPr>
          <a:xfrm>
            <a:off x="8360451" y="3353653"/>
            <a:ext cx="5835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7" name="Text 64"/>
          <p:cNvSpPr/>
          <p:nvPr/>
        </p:nvSpPr>
        <p:spPr>
          <a:xfrm>
            <a:off x="8436620" y="30304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13.9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8944021" y="3353653"/>
            <a:ext cx="5835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9" name="Text 66"/>
          <p:cNvSpPr/>
          <p:nvPr/>
        </p:nvSpPr>
        <p:spPr>
          <a:xfrm>
            <a:off x="9020190" y="30304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</a:t>
            </a:r>
            <a:endParaRPr lang="en-US" sz="1275" dirty="0"/>
          </a:p>
        </p:txBody>
      </p:sp>
      <p:sp>
        <p:nvSpPr>
          <p:cNvPr id="70" name="Shape 67"/>
          <p:cNvSpPr/>
          <p:nvPr/>
        </p:nvSpPr>
        <p:spPr>
          <a:xfrm>
            <a:off x="9527499" y="3353653"/>
            <a:ext cx="166429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1" name="Text 68"/>
          <p:cNvSpPr/>
          <p:nvPr/>
        </p:nvSpPr>
        <p:spPr>
          <a:xfrm>
            <a:off x="9565630" y="3030413"/>
            <a:ext cx="154999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35.3%</a:t>
            </a:r>
            <a:pPr algn="r" indent="0" marL="0">
              <a:lnSpc>
                <a:spcPts val="1530"/>
              </a:lnSpc>
              <a:buNone/>
            </a:pPr>
            <a:r>
              <a:rPr lang="en-US" sz="120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algn="r" indent="0" marL="0">
              <a:lnSpc>
                <a:spcPts val="1530"/>
              </a:lnSpc>
              <a:buNone/>
            </a:pPr>
            <a:r>
              <a:rPr lang="en-US" sz="120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15.5%p</a:t>
            </a:r>
            <a:endParaRPr lang="en-US" sz="1275" dirty="0"/>
          </a:p>
        </p:txBody>
      </p:sp>
      <p:sp>
        <p:nvSpPr>
          <p:cNvPr id="72" name="Shape 69"/>
          <p:cNvSpPr/>
          <p:nvPr/>
        </p:nvSpPr>
        <p:spPr>
          <a:xfrm>
            <a:off x="7667610" y="3810853"/>
            <a:ext cx="69274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3" name="Text 70"/>
          <p:cNvSpPr/>
          <p:nvPr/>
        </p:nvSpPr>
        <p:spPr>
          <a:xfrm>
            <a:off x="7743871" y="3487613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</a:t>
            </a:r>
            <a:endParaRPr lang="en-US" sz="1275" dirty="0"/>
          </a:p>
        </p:txBody>
      </p:sp>
      <p:sp>
        <p:nvSpPr>
          <p:cNvPr id="74" name="Shape 71"/>
          <p:cNvSpPr/>
          <p:nvPr/>
        </p:nvSpPr>
        <p:spPr>
          <a:xfrm>
            <a:off x="8360451" y="3810853"/>
            <a:ext cx="5835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5" name="Text 72"/>
          <p:cNvSpPr/>
          <p:nvPr/>
        </p:nvSpPr>
        <p:spPr>
          <a:xfrm>
            <a:off x="8436620" y="34876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16.7</a:t>
            </a:r>
            <a:endParaRPr lang="en-US" sz="1275" dirty="0"/>
          </a:p>
        </p:txBody>
      </p:sp>
      <p:sp>
        <p:nvSpPr>
          <p:cNvPr id="76" name="Shape 73"/>
          <p:cNvSpPr/>
          <p:nvPr/>
        </p:nvSpPr>
        <p:spPr>
          <a:xfrm>
            <a:off x="8944021" y="3810853"/>
            <a:ext cx="5835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7" name="Text 74"/>
          <p:cNvSpPr/>
          <p:nvPr/>
        </p:nvSpPr>
        <p:spPr>
          <a:xfrm>
            <a:off x="9020190" y="34876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</a:t>
            </a:r>
            <a:endParaRPr lang="en-US" sz="1275" dirty="0"/>
          </a:p>
        </p:txBody>
      </p:sp>
      <p:sp>
        <p:nvSpPr>
          <p:cNvPr id="78" name="Shape 75"/>
          <p:cNvSpPr/>
          <p:nvPr/>
        </p:nvSpPr>
        <p:spPr>
          <a:xfrm>
            <a:off x="9527499" y="3810853"/>
            <a:ext cx="166429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9" name="Text 76"/>
          <p:cNvSpPr/>
          <p:nvPr/>
        </p:nvSpPr>
        <p:spPr>
          <a:xfrm>
            <a:off x="9565630" y="3487613"/>
            <a:ext cx="154999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40.7%</a:t>
            </a:r>
            <a:pPr algn="r" indent="0" marL="0">
              <a:lnSpc>
                <a:spcPts val="1530"/>
              </a:lnSpc>
              <a:buNone/>
            </a:pPr>
            <a:r>
              <a:rPr lang="en-US" sz="120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algn="r" indent="0" marL="0">
              <a:lnSpc>
                <a:spcPts val="1530"/>
              </a:lnSpc>
              <a:buNone/>
            </a:pPr>
            <a:r>
              <a:rPr lang="en-US" sz="120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5.4%p</a:t>
            </a:r>
            <a:endParaRPr lang="en-US" sz="1275" dirty="0"/>
          </a:p>
        </p:txBody>
      </p:sp>
      <p:sp>
        <p:nvSpPr>
          <p:cNvPr id="80" name="Shape 77"/>
          <p:cNvSpPr/>
          <p:nvPr/>
        </p:nvSpPr>
        <p:spPr>
          <a:xfrm>
            <a:off x="7667610" y="4268053"/>
            <a:ext cx="69274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1" name="Text 78"/>
          <p:cNvSpPr/>
          <p:nvPr/>
        </p:nvSpPr>
        <p:spPr>
          <a:xfrm>
            <a:off x="7743871" y="3944813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</a:t>
            </a:r>
            <a:endParaRPr lang="en-US" sz="1275" dirty="0"/>
          </a:p>
        </p:txBody>
      </p:sp>
      <p:sp>
        <p:nvSpPr>
          <p:cNvPr id="82" name="Shape 79"/>
          <p:cNvSpPr/>
          <p:nvPr/>
        </p:nvSpPr>
        <p:spPr>
          <a:xfrm>
            <a:off x="8360451" y="4268053"/>
            <a:ext cx="5835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3" name="Text 80"/>
          <p:cNvSpPr/>
          <p:nvPr/>
        </p:nvSpPr>
        <p:spPr>
          <a:xfrm>
            <a:off x="8436620" y="39448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19.6</a:t>
            </a:r>
            <a:endParaRPr lang="en-US" sz="1275" dirty="0"/>
          </a:p>
        </p:txBody>
      </p:sp>
      <p:sp>
        <p:nvSpPr>
          <p:cNvPr id="84" name="Shape 81"/>
          <p:cNvSpPr/>
          <p:nvPr/>
        </p:nvSpPr>
        <p:spPr>
          <a:xfrm>
            <a:off x="8944021" y="4268053"/>
            <a:ext cx="5835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5" name="Text 82"/>
          <p:cNvSpPr/>
          <p:nvPr/>
        </p:nvSpPr>
        <p:spPr>
          <a:xfrm>
            <a:off x="9020190" y="39448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10.8</a:t>
            </a:r>
            <a:endParaRPr lang="en-US" sz="1275" dirty="0"/>
          </a:p>
        </p:txBody>
      </p:sp>
      <p:sp>
        <p:nvSpPr>
          <p:cNvPr id="86" name="Shape 83"/>
          <p:cNvSpPr/>
          <p:nvPr/>
        </p:nvSpPr>
        <p:spPr>
          <a:xfrm>
            <a:off x="9527499" y="4268053"/>
            <a:ext cx="166429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7" name="Text 84"/>
          <p:cNvSpPr/>
          <p:nvPr/>
        </p:nvSpPr>
        <p:spPr>
          <a:xfrm>
            <a:off x="9565630" y="3944813"/>
            <a:ext cx="154999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44.9%</a:t>
            </a:r>
            <a:pPr algn="r" indent="0" marL="0">
              <a:lnSpc>
                <a:spcPts val="1530"/>
              </a:lnSpc>
              <a:buNone/>
            </a:pPr>
            <a:r>
              <a:rPr lang="en-US" sz="120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algn="r" indent="0" marL="0">
              <a:lnSpc>
                <a:spcPts val="1530"/>
              </a:lnSpc>
              <a:buNone/>
            </a:pPr>
            <a:r>
              <a:rPr lang="en-US" sz="120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4.2%p</a:t>
            </a:r>
            <a:endParaRPr lang="en-US" sz="1275" dirty="0"/>
          </a:p>
        </p:txBody>
      </p:sp>
      <p:sp>
        <p:nvSpPr>
          <p:cNvPr id="88" name="Shape 85"/>
          <p:cNvSpPr/>
          <p:nvPr/>
        </p:nvSpPr>
        <p:spPr>
          <a:xfrm>
            <a:off x="7667610" y="4277655"/>
            <a:ext cx="692749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89" name="Text 86"/>
          <p:cNvSpPr/>
          <p:nvPr/>
        </p:nvSpPr>
        <p:spPr>
          <a:xfrm>
            <a:off x="7743871" y="4402013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</a:t>
            </a:r>
            <a:endParaRPr lang="en-US" sz="1275" dirty="0"/>
          </a:p>
        </p:txBody>
      </p:sp>
      <p:sp>
        <p:nvSpPr>
          <p:cNvPr id="90" name="Shape 87"/>
          <p:cNvSpPr/>
          <p:nvPr/>
        </p:nvSpPr>
        <p:spPr>
          <a:xfrm>
            <a:off x="8360451" y="4277655"/>
            <a:ext cx="58357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1" name="Text 88"/>
          <p:cNvSpPr/>
          <p:nvPr/>
        </p:nvSpPr>
        <p:spPr>
          <a:xfrm>
            <a:off x="8436620" y="44020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60.3</a:t>
            </a:r>
            <a:endParaRPr lang="en-US" sz="1275" dirty="0"/>
          </a:p>
        </p:txBody>
      </p:sp>
      <p:sp>
        <p:nvSpPr>
          <p:cNvPr id="92" name="Shape 89"/>
          <p:cNvSpPr/>
          <p:nvPr/>
        </p:nvSpPr>
        <p:spPr>
          <a:xfrm>
            <a:off x="8944021" y="4277655"/>
            <a:ext cx="58357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3" name="Text 90"/>
          <p:cNvSpPr/>
          <p:nvPr/>
        </p:nvSpPr>
        <p:spPr>
          <a:xfrm>
            <a:off x="9020190" y="4402013"/>
            <a:ext cx="43114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37.8</a:t>
            </a:r>
            <a:endParaRPr lang="en-US" sz="1275" dirty="0"/>
          </a:p>
        </p:txBody>
      </p:sp>
      <p:sp>
        <p:nvSpPr>
          <p:cNvPr id="94" name="Shape 91"/>
          <p:cNvSpPr/>
          <p:nvPr/>
        </p:nvSpPr>
        <p:spPr>
          <a:xfrm>
            <a:off x="9527499" y="4277655"/>
            <a:ext cx="1664299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5" name="Text 92"/>
          <p:cNvSpPr/>
          <p:nvPr/>
        </p:nvSpPr>
        <p:spPr>
          <a:xfrm>
            <a:off x="9603760" y="4402013"/>
            <a:ext cx="151196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37.3%</a:t>
            </a:r>
            <a:endParaRPr lang="en-US" sz="1275" dirty="0"/>
          </a:p>
        </p:txBody>
      </p:sp>
      <p:sp>
        <p:nvSpPr>
          <p:cNvPr id="96" name="Text 93"/>
          <p:cNvSpPr/>
          <p:nvPr/>
        </p:nvSpPr>
        <p:spPr>
          <a:xfrm>
            <a:off x="7667610" y="4861682"/>
            <a:ext cx="3562320" cy="44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값은 월별 데이터에서 계산합니다. 이익률 =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(매출 − 비용) ÷ 매출.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716408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COMPOSITION · 상반기 1–6월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1970" y="876270"/>
            <a:ext cx="525167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매출 기여 — 스택 막대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252539" y="1052474"/>
            <a:ext cx="21774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 합계 3.1 → 5.0억 원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1970" y="1550640"/>
            <a:ext cx="10668030" cy="2691994"/>
          </a:xfrm>
          <a:prstGeom prst="roundRect">
            <a:avLst>
              <a:gd name="adj" fmla="val 566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171" y="1822125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3987E5"/>
          </a:solidFill>
          <a:ln/>
        </p:spPr>
      </p:sp>
      <p:sp>
        <p:nvSpPr>
          <p:cNvPr id="8" name="Text 5"/>
          <p:cNvSpPr/>
          <p:nvPr/>
        </p:nvSpPr>
        <p:spPr>
          <a:xfrm>
            <a:off x="1190640" y="1775033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275" dirty="0"/>
          </a:p>
        </p:txBody>
      </p:sp>
      <p:sp>
        <p:nvSpPr>
          <p:cNvPr id="9" name="Shape 6"/>
          <p:cNvSpPr/>
          <p:nvPr/>
        </p:nvSpPr>
        <p:spPr>
          <a:xfrm>
            <a:off x="1885950" y="1822125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D95926"/>
          </a:solidFill>
          <a:ln/>
        </p:spPr>
      </p:sp>
      <p:sp>
        <p:nvSpPr>
          <p:cNvPr id="10" name="Text 7"/>
          <p:cNvSpPr/>
          <p:nvPr/>
        </p:nvSpPr>
        <p:spPr>
          <a:xfrm>
            <a:off x="2076420" y="1775033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2609880" y="1822125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199E70"/>
          </a:solidFill>
          <a:ln/>
        </p:spPr>
      </p:sp>
      <p:sp>
        <p:nvSpPr>
          <p:cNvPr id="12" name="Text 9"/>
          <p:cNvSpPr/>
          <p:nvPr/>
        </p:nvSpPr>
        <p:spPr>
          <a:xfrm>
            <a:off x="2800350" y="1775033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3495660" y="1822125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98500"/>
          </a:solidFill>
          <a:ln/>
        </p:spPr>
      </p:sp>
      <p:sp>
        <p:nvSpPr>
          <p:cNvPr id="14" name="Text 11"/>
          <p:cNvSpPr/>
          <p:nvPr/>
        </p:nvSpPr>
        <p:spPr>
          <a:xfrm>
            <a:off x="3686221" y="1775033"/>
            <a:ext cx="64767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직접영업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8715421" y="1778599"/>
            <a:ext cx="247647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 원 · 막대 위 숫자는 월 합계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76270" y="1907804"/>
            <a:ext cx="247620" cy="171450"/>
          </a:xfrm>
          <a:prstGeom prst="roundRect">
            <a:avLst>
              <a:gd name="adj" fmla="val 50027"/>
            </a:avLst>
          </a:prstGeom>
          <a:solidFill>
            <a:srgbClr val="242422">
              <a:alpha val="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56548" y="3700302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3838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92926" y="3602279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48" dirty="0"/>
          </a:p>
        </p:txBody>
      </p:sp>
      <p:sp>
        <p:nvSpPr>
          <p:cNvPr id="19" name="Shape 16"/>
          <p:cNvSpPr/>
          <p:nvPr/>
        </p:nvSpPr>
        <p:spPr>
          <a:xfrm>
            <a:off x="1456548" y="3218597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92926" y="3120573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48" dirty="0"/>
          </a:p>
        </p:txBody>
      </p:sp>
      <p:sp>
        <p:nvSpPr>
          <p:cNvPr id="21" name="Shape 18"/>
          <p:cNvSpPr/>
          <p:nvPr/>
        </p:nvSpPr>
        <p:spPr>
          <a:xfrm>
            <a:off x="1456548" y="2736891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92926" y="2638867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48" dirty="0"/>
          </a:p>
        </p:txBody>
      </p:sp>
      <p:sp>
        <p:nvSpPr>
          <p:cNvPr id="23" name="Shape 20"/>
          <p:cNvSpPr/>
          <p:nvPr/>
        </p:nvSpPr>
        <p:spPr>
          <a:xfrm>
            <a:off x="1456548" y="2255276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92926" y="2157161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48" dirty="0"/>
          </a:p>
        </p:txBody>
      </p:sp>
      <p:sp>
        <p:nvSpPr>
          <p:cNvPr id="25" name="Shape 22"/>
          <p:cNvSpPr/>
          <p:nvPr/>
        </p:nvSpPr>
        <p:spPr>
          <a:xfrm>
            <a:off x="2147377" y="3420770"/>
            <a:ext cx="228143" cy="279532"/>
          </a:xfrm>
          <a:custGeom>
            <a:avLst/>
            <a:gdLst/>
            <a:ahLst/>
            <a:cxnLst/>
            <a:rect l="l" t="t" r="r" b="b"/>
            <a:pathLst>
              <a:path w="228143" h="279532">
                <a:moveTo>
                  <a:pt x="0" y="0"/>
                </a:moveTo>
                <a:lnTo>
                  <a:pt x="228143" y="0"/>
                </a:lnTo>
                <a:lnTo>
                  <a:pt x="228143" y="279532"/>
                </a:lnTo>
                <a:lnTo>
                  <a:pt x="0" y="279532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26" name="Shape 23"/>
          <p:cNvSpPr/>
          <p:nvPr/>
        </p:nvSpPr>
        <p:spPr>
          <a:xfrm>
            <a:off x="2147377" y="3204058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27" name="Shape 24"/>
          <p:cNvSpPr/>
          <p:nvPr/>
        </p:nvSpPr>
        <p:spPr>
          <a:xfrm>
            <a:off x="2147377" y="3059582"/>
            <a:ext cx="228143" cy="125456"/>
          </a:xfrm>
          <a:custGeom>
            <a:avLst/>
            <a:gdLst/>
            <a:ahLst/>
            <a:cxnLst/>
            <a:rect l="l" t="t" r="r" b="b"/>
            <a:pathLst>
              <a:path w="228143" h="125456">
                <a:moveTo>
                  <a:pt x="0" y="0"/>
                </a:moveTo>
                <a:lnTo>
                  <a:pt x="228143" y="0"/>
                </a:lnTo>
                <a:lnTo>
                  <a:pt x="228143" y="125456"/>
                </a:lnTo>
                <a:lnTo>
                  <a:pt x="0" y="12545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28" name="Shape 25"/>
          <p:cNvSpPr/>
          <p:nvPr/>
        </p:nvSpPr>
        <p:spPr>
          <a:xfrm>
            <a:off x="2147377" y="2953695"/>
            <a:ext cx="228143" cy="86868"/>
          </a:xfrm>
          <a:custGeom>
            <a:avLst/>
            <a:gdLst/>
            <a:ahLst/>
            <a:cxnLst/>
            <a:rect l="l" t="t" r="r" b="b"/>
            <a:pathLst>
              <a:path w="228143" h="86868">
                <a:moveTo>
                  <a:pt x="0" y="86868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86868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29" name="Text 26"/>
          <p:cNvSpPr/>
          <p:nvPr/>
        </p:nvSpPr>
        <p:spPr>
          <a:xfrm>
            <a:off x="2122048" y="2723632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123" dirty="0"/>
          </a:p>
        </p:txBody>
      </p:sp>
      <p:sp>
        <p:nvSpPr>
          <p:cNvPr id="30" name="Text 27"/>
          <p:cNvSpPr/>
          <p:nvPr/>
        </p:nvSpPr>
        <p:spPr>
          <a:xfrm>
            <a:off x="2120219" y="3782964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48" dirty="0"/>
          </a:p>
        </p:txBody>
      </p:sp>
      <p:sp>
        <p:nvSpPr>
          <p:cNvPr id="31" name="Shape 28"/>
          <p:cNvSpPr/>
          <p:nvPr/>
        </p:nvSpPr>
        <p:spPr>
          <a:xfrm>
            <a:off x="3757270" y="3396722"/>
            <a:ext cx="228143" cy="303581"/>
          </a:xfrm>
          <a:custGeom>
            <a:avLst/>
            <a:gdLst/>
            <a:ahLst/>
            <a:cxnLst/>
            <a:rect l="l" t="t" r="r" b="b"/>
            <a:pathLst>
              <a:path w="228143" h="303581">
                <a:moveTo>
                  <a:pt x="0" y="0"/>
                </a:moveTo>
                <a:lnTo>
                  <a:pt x="228143" y="0"/>
                </a:lnTo>
                <a:lnTo>
                  <a:pt x="228143" y="303581"/>
                </a:lnTo>
                <a:lnTo>
                  <a:pt x="0" y="303581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32" name="Shape 29"/>
          <p:cNvSpPr/>
          <p:nvPr/>
        </p:nvSpPr>
        <p:spPr>
          <a:xfrm>
            <a:off x="3757270" y="3155869"/>
            <a:ext cx="228143" cy="221833"/>
          </a:xfrm>
          <a:custGeom>
            <a:avLst/>
            <a:gdLst/>
            <a:ahLst/>
            <a:cxnLst/>
            <a:rect l="l" t="t" r="r" b="b"/>
            <a:pathLst>
              <a:path w="228143" h="221833">
                <a:moveTo>
                  <a:pt x="0" y="0"/>
                </a:moveTo>
                <a:lnTo>
                  <a:pt x="228143" y="0"/>
                </a:lnTo>
                <a:lnTo>
                  <a:pt x="228143" y="221833"/>
                </a:lnTo>
                <a:lnTo>
                  <a:pt x="0" y="221833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33" name="Shape 30"/>
          <p:cNvSpPr/>
          <p:nvPr/>
        </p:nvSpPr>
        <p:spPr>
          <a:xfrm>
            <a:off x="3757270" y="2987253"/>
            <a:ext cx="228143" cy="149596"/>
          </a:xfrm>
          <a:custGeom>
            <a:avLst/>
            <a:gdLst/>
            <a:ahLst/>
            <a:cxnLst/>
            <a:rect l="l" t="t" r="r" b="b"/>
            <a:pathLst>
              <a:path w="228143" h="149596">
                <a:moveTo>
                  <a:pt x="0" y="0"/>
                </a:moveTo>
                <a:lnTo>
                  <a:pt x="228143" y="0"/>
                </a:lnTo>
                <a:lnTo>
                  <a:pt x="228143" y="149596"/>
                </a:lnTo>
                <a:lnTo>
                  <a:pt x="0" y="14959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34" name="Shape 31"/>
          <p:cNvSpPr/>
          <p:nvPr/>
        </p:nvSpPr>
        <p:spPr>
          <a:xfrm>
            <a:off x="3757270" y="2881457"/>
            <a:ext cx="228143" cy="86868"/>
          </a:xfrm>
          <a:custGeom>
            <a:avLst/>
            <a:gdLst/>
            <a:ahLst/>
            <a:cxnLst/>
            <a:rect l="l" t="t" r="r" b="b"/>
            <a:pathLst>
              <a:path w="228143" h="86868">
                <a:moveTo>
                  <a:pt x="0" y="86868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86868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35" name="Text 32"/>
          <p:cNvSpPr/>
          <p:nvPr/>
        </p:nvSpPr>
        <p:spPr>
          <a:xfrm>
            <a:off x="3731941" y="2651394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123" dirty="0"/>
          </a:p>
        </p:txBody>
      </p:sp>
      <p:sp>
        <p:nvSpPr>
          <p:cNvPr id="36" name="Text 33"/>
          <p:cNvSpPr/>
          <p:nvPr/>
        </p:nvSpPr>
        <p:spPr>
          <a:xfrm>
            <a:off x="3730020" y="3782964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48" dirty="0"/>
          </a:p>
        </p:txBody>
      </p:sp>
      <p:sp>
        <p:nvSpPr>
          <p:cNvPr id="37" name="Shape 34"/>
          <p:cNvSpPr/>
          <p:nvPr/>
        </p:nvSpPr>
        <p:spPr>
          <a:xfrm>
            <a:off x="5367162" y="3372673"/>
            <a:ext cx="228143" cy="327721"/>
          </a:xfrm>
          <a:custGeom>
            <a:avLst/>
            <a:gdLst/>
            <a:ahLst/>
            <a:cxnLst/>
            <a:rect l="l" t="t" r="r" b="b"/>
            <a:pathLst>
              <a:path w="228143" h="327721">
                <a:moveTo>
                  <a:pt x="0" y="0"/>
                </a:moveTo>
                <a:lnTo>
                  <a:pt x="228143" y="0"/>
                </a:lnTo>
                <a:lnTo>
                  <a:pt x="228143" y="327721"/>
                </a:lnTo>
                <a:lnTo>
                  <a:pt x="0" y="327721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38" name="Shape 35"/>
          <p:cNvSpPr/>
          <p:nvPr/>
        </p:nvSpPr>
        <p:spPr>
          <a:xfrm>
            <a:off x="5367162" y="3107680"/>
            <a:ext cx="228143" cy="245882"/>
          </a:xfrm>
          <a:custGeom>
            <a:avLst/>
            <a:gdLst/>
            <a:ahLst/>
            <a:cxnLst/>
            <a:rect l="l" t="t" r="r" b="b"/>
            <a:pathLst>
              <a:path w="228143" h="245882">
                <a:moveTo>
                  <a:pt x="0" y="0"/>
                </a:moveTo>
                <a:lnTo>
                  <a:pt x="228143" y="0"/>
                </a:lnTo>
                <a:lnTo>
                  <a:pt x="228143" y="245882"/>
                </a:lnTo>
                <a:lnTo>
                  <a:pt x="0" y="245882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39" name="Shape 36"/>
          <p:cNvSpPr/>
          <p:nvPr/>
        </p:nvSpPr>
        <p:spPr>
          <a:xfrm>
            <a:off x="5367162" y="2963205"/>
            <a:ext cx="228143" cy="125456"/>
          </a:xfrm>
          <a:custGeom>
            <a:avLst/>
            <a:gdLst/>
            <a:ahLst/>
            <a:cxnLst/>
            <a:rect l="l" t="t" r="r" b="b"/>
            <a:pathLst>
              <a:path w="228143" h="125456">
                <a:moveTo>
                  <a:pt x="0" y="0"/>
                </a:moveTo>
                <a:lnTo>
                  <a:pt x="228143" y="0"/>
                </a:lnTo>
                <a:lnTo>
                  <a:pt x="228143" y="125456"/>
                </a:lnTo>
                <a:lnTo>
                  <a:pt x="0" y="12545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40" name="Shape 37"/>
          <p:cNvSpPr/>
          <p:nvPr/>
        </p:nvSpPr>
        <p:spPr>
          <a:xfrm>
            <a:off x="5367162" y="2833268"/>
            <a:ext cx="228143" cy="110917"/>
          </a:xfrm>
          <a:custGeom>
            <a:avLst/>
            <a:gdLst/>
            <a:ahLst/>
            <a:cxnLst/>
            <a:rect l="l" t="t" r="r" b="b"/>
            <a:pathLst>
              <a:path w="228143" h="110917">
                <a:moveTo>
                  <a:pt x="0" y="110917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10917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41" name="Text 38"/>
          <p:cNvSpPr/>
          <p:nvPr/>
        </p:nvSpPr>
        <p:spPr>
          <a:xfrm>
            <a:off x="5341833" y="2603205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</a:t>
            </a:r>
            <a:endParaRPr lang="en-US" sz="1123" dirty="0"/>
          </a:p>
        </p:txBody>
      </p:sp>
      <p:sp>
        <p:nvSpPr>
          <p:cNvPr id="42" name="Text 39"/>
          <p:cNvSpPr/>
          <p:nvPr/>
        </p:nvSpPr>
        <p:spPr>
          <a:xfrm>
            <a:off x="5339913" y="3782964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48" dirty="0"/>
          </a:p>
        </p:txBody>
      </p:sp>
      <p:sp>
        <p:nvSpPr>
          <p:cNvPr id="43" name="Shape 40"/>
          <p:cNvSpPr/>
          <p:nvPr/>
        </p:nvSpPr>
        <p:spPr>
          <a:xfrm>
            <a:off x="6976963" y="3324484"/>
            <a:ext cx="228143" cy="375818"/>
          </a:xfrm>
          <a:custGeom>
            <a:avLst/>
            <a:gdLst/>
            <a:ahLst/>
            <a:cxnLst/>
            <a:rect l="l" t="t" r="r" b="b"/>
            <a:pathLst>
              <a:path w="228143" h="375818">
                <a:moveTo>
                  <a:pt x="0" y="0"/>
                </a:moveTo>
                <a:lnTo>
                  <a:pt x="228143" y="0"/>
                </a:lnTo>
                <a:lnTo>
                  <a:pt x="228143" y="375818"/>
                </a:lnTo>
                <a:lnTo>
                  <a:pt x="0" y="375818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44" name="Shape 41"/>
          <p:cNvSpPr/>
          <p:nvPr/>
        </p:nvSpPr>
        <p:spPr>
          <a:xfrm>
            <a:off x="6976963" y="3011394"/>
            <a:ext cx="228143" cy="294071"/>
          </a:xfrm>
          <a:custGeom>
            <a:avLst/>
            <a:gdLst/>
            <a:ahLst/>
            <a:cxnLst/>
            <a:rect l="l" t="t" r="r" b="b"/>
            <a:pathLst>
              <a:path w="228143" h="294071">
                <a:moveTo>
                  <a:pt x="0" y="0"/>
                </a:moveTo>
                <a:lnTo>
                  <a:pt x="228143" y="0"/>
                </a:lnTo>
                <a:lnTo>
                  <a:pt x="228143" y="294071"/>
                </a:lnTo>
                <a:lnTo>
                  <a:pt x="0" y="294071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45" name="Shape 42"/>
          <p:cNvSpPr/>
          <p:nvPr/>
        </p:nvSpPr>
        <p:spPr>
          <a:xfrm>
            <a:off x="6976963" y="2818729"/>
            <a:ext cx="228143" cy="173645"/>
          </a:xfrm>
          <a:custGeom>
            <a:avLst/>
            <a:gdLst/>
            <a:ahLst/>
            <a:cxnLst/>
            <a:rect l="l" t="t" r="r" b="b"/>
            <a:pathLst>
              <a:path w="228143" h="173645">
                <a:moveTo>
                  <a:pt x="0" y="0"/>
                </a:moveTo>
                <a:lnTo>
                  <a:pt x="228143" y="0"/>
                </a:lnTo>
                <a:lnTo>
                  <a:pt x="228143" y="173645"/>
                </a:lnTo>
                <a:lnTo>
                  <a:pt x="0" y="17364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46" name="Shape 43"/>
          <p:cNvSpPr/>
          <p:nvPr/>
        </p:nvSpPr>
        <p:spPr>
          <a:xfrm>
            <a:off x="6976963" y="2688793"/>
            <a:ext cx="228143" cy="110917"/>
          </a:xfrm>
          <a:custGeom>
            <a:avLst/>
            <a:gdLst/>
            <a:ahLst/>
            <a:cxnLst/>
            <a:rect l="l" t="t" r="r" b="b"/>
            <a:pathLst>
              <a:path w="228143" h="110917">
                <a:moveTo>
                  <a:pt x="0" y="110917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10917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47" name="Text 44"/>
          <p:cNvSpPr/>
          <p:nvPr/>
        </p:nvSpPr>
        <p:spPr>
          <a:xfrm>
            <a:off x="6951635" y="2458730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123" dirty="0"/>
          </a:p>
        </p:txBody>
      </p:sp>
      <p:sp>
        <p:nvSpPr>
          <p:cNvPr id="48" name="Text 45"/>
          <p:cNvSpPr/>
          <p:nvPr/>
        </p:nvSpPr>
        <p:spPr>
          <a:xfrm>
            <a:off x="6949806" y="3782964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48" dirty="0"/>
          </a:p>
        </p:txBody>
      </p:sp>
      <p:sp>
        <p:nvSpPr>
          <p:cNvPr id="49" name="Shape 46"/>
          <p:cNvSpPr/>
          <p:nvPr/>
        </p:nvSpPr>
        <p:spPr>
          <a:xfrm>
            <a:off x="8586856" y="3276295"/>
            <a:ext cx="228143" cy="424007"/>
          </a:xfrm>
          <a:custGeom>
            <a:avLst/>
            <a:gdLst/>
            <a:ahLst/>
            <a:cxnLst/>
            <a:rect l="l" t="t" r="r" b="b"/>
            <a:pathLst>
              <a:path w="228143" h="424007">
                <a:moveTo>
                  <a:pt x="0" y="0"/>
                </a:moveTo>
                <a:lnTo>
                  <a:pt x="228143" y="0"/>
                </a:lnTo>
                <a:lnTo>
                  <a:pt x="228143" y="424007"/>
                </a:lnTo>
                <a:lnTo>
                  <a:pt x="0" y="424007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50" name="Shape 47"/>
          <p:cNvSpPr/>
          <p:nvPr/>
        </p:nvSpPr>
        <p:spPr>
          <a:xfrm>
            <a:off x="8586856" y="2939156"/>
            <a:ext cx="228143" cy="318211"/>
          </a:xfrm>
          <a:custGeom>
            <a:avLst/>
            <a:gdLst/>
            <a:ahLst/>
            <a:cxnLst/>
            <a:rect l="l" t="t" r="r" b="b"/>
            <a:pathLst>
              <a:path w="228143" h="318211">
                <a:moveTo>
                  <a:pt x="0" y="0"/>
                </a:moveTo>
                <a:lnTo>
                  <a:pt x="228143" y="0"/>
                </a:lnTo>
                <a:lnTo>
                  <a:pt x="228143" y="318211"/>
                </a:lnTo>
                <a:lnTo>
                  <a:pt x="0" y="318211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51" name="Shape 48"/>
          <p:cNvSpPr/>
          <p:nvPr/>
        </p:nvSpPr>
        <p:spPr>
          <a:xfrm>
            <a:off x="8586856" y="2722352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52" name="Shape 49"/>
          <p:cNvSpPr/>
          <p:nvPr/>
        </p:nvSpPr>
        <p:spPr>
          <a:xfrm>
            <a:off x="8586856" y="2568367"/>
            <a:ext cx="228143" cy="134965"/>
          </a:xfrm>
          <a:custGeom>
            <a:avLst/>
            <a:gdLst/>
            <a:ahLst/>
            <a:cxnLst/>
            <a:rect l="l" t="t" r="r" b="b"/>
            <a:pathLst>
              <a:path w="228143" h="134965">
                <a:moveTo>
                  <a:pt x="0" y="134965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34965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53" name="Text 50"/>
          <p:cNvSpPr/>
          <p:nvPr/>
        </p:nvSpPr>
        <p:spPr>
          <a:xfrm>
            <a:off x="8561527" y="2338304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</a:t>
            </a:r>
            <a:endParaRPr lang="en-US" sz="1123" dirty="0"/>
          </a:p>
        </p:txBody>
      </p:sp>
      <p:sp>
        <p:nvSpPr>
          <p:cNvPr id="54" name="Text 51"/>
          <p:cNvSpPr/>
          <p:nvPr/>
        </p:nvSpPr>
        <p:spPr>
          <a:xfrm>
            <a:off x="8559698" y="3782964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48" dirty="0"/>
          </a:p>
        </p:txBody>
      </p:sp>
      <p:sp>
        <p:nvSpPr>
          <p:cNvPr id="55" name="Shape 52"/>
          <p:cNvSpPr/>
          <p:nvPr/>
        </p:nvSpPr>
        <p:spPr>
          <a:xfrm>
            <a:off x="10196749" y="3228106"/>
            <a:ext cx="228143" cy="472196"/>
          </a:xfrm>
          <a:custGeom>
            <a:avLst/>
            <a:gdLst/>
            <a:ahLst/>
            <a:cxnLst/>
            <a:rect l="l" t="t" r="r" b="b"/>
            <a:pathLst>
              <a:path w="228143" h="472196">
                <a:moveTo>
                  <a:pt x="0" y="0"/>
                </a:moveTo>
                <a:lnTo>
                  <a:pt x="228143" y="0"/>
                </a:lnTo>
                <a:lnTo>
                  <a:pt x="228143" y="472196"/>
                </a:lnTo>
                <a:lnTo>
                  <a:pt x="0" y="472196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56" name="Shape 53"/>
          <p:cNvSpPr/>
          <p:nvPr/>
        </p:nvSpPr>
        <p:spPr>
          <a:xfrm>
            <a:off x="10196749" y="2866827"/>
            <a:ext cx="228143" cy="342260"/>
          </a:xfrm>
          <a:custGeom>
            <a:avLst/>
            <a:gdLst/>
            <a:ahLst/>
            <a:cxnLst/>
            <a:rect l="l" t="t" r="r" b="b"/>
            <a:pathLst>
              <a:path w="228143" h="342260">
                <a:moveTo>
                  <a:pt x="0" y="0"/>
                </a:moveTo>
                <a:lnTo>
                  <a:pt x="228143" y="0"/>
                </a:lnTo>
                <a:lnTo>
                  <a:pt x="228143" y="342260"/>
                </a:lnTo>
                <a:lnTo>
                  <a:pt x="0" y="342260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57" name="Shape 54"/>
          <p:cNvSpPr/>
          <p:nvPr/>
        </p:nvSpPr>
        <p:spPr>
          <a:xfrm>
            <a:off x="10196749" y="2650114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58" name="Shape 55"/>
          <p:cNvSpPr/>
          <p:nvPr/>
        </p:nvSpPr>
        <p:spPr>
          <a:xfrm>
            <a:off x="10196749" y="2496129"/>
            <a:ext cx="228143" cy="134965"/>
          </a:xfrm>
          <a:custGeom>
            <a:avLst/>
            <a:gdLst/>
            <a:ahLst/>
            <a:cxnLst/>
            <a:rect l="l" t="t" r="r" b="b"/>
            <a:pathLst>
              <a:path w="228143" h="134965">
                <a:moveTo>
                  <a:pt x="0" y="134965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34965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59" name="Text 56"/>
          <p:cNvSpPr/>
          <p:nvPr/>
        </p:nvSpPr>
        <p:spPr>
          <a:xfrm>
            <a:off x="10171420" y="2266066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123" dirty="0"/>
          </a:p>
        </p:txBody>
      </p:sp>
      <p:sp>
        <p:nvSpPr>
          <p:cNvPr id="60" name="Text 57"/>
          <p:cNvSpPr/>
          <p:nvPr/>
        </p:nvSpPr>
        <p:spPr>
          <a:xfrm>
            <a:off x="10169591" y="3782964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48" dirty="0"/>
          </a:p>
        </p:txBody>
      </p:sp>
      <p:sp>
        <p:nvSpPr>
          <p:cNvPr id="61" name="Shape 58"/>
          <p:cNvSpPr/>
          <p:nvPr/>
        </p:nvSpPr>
        <p:spPr>
          <a:xfrm>
            <a:off x="761970" y="4471233"/>
            <a:ext cx="10668030" cy="2124060"/>
          </a:xfrm>
          <a:prstGeom prst="roundRect">
            <a:avLst>
              <a:gd name="adj" fmla="val 7176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00171" y="4942698"/>
            <a:ext cx="267590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3" name="Text 60"/>
          <p:cNvSpPr/>
          <p:nvPr/>
        </p:nvSpPr>
        <p:spPr>
          <a:xfrm>
            <a:off x="1076340" y="4670664"/>
            <a:ext cx="30477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3676071" y="494269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5" name="Text 62"/>
          <p:cNvSpPr/>
          <p:nvPr/>
        </p:nvSpPr>
        <p:spPr>
          <a:xfrm>
            <a:off x="3752240" y="4670664"/>
            <a:ext cx="889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4718121" y="494269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7" name="Text 64"/>
          <p:cNvSpPr/>
          <p:nvPr/>
        </p:nvSpPr>
        <p:spPr>
          <a:xfrm>
            <a:off x="4794382" y="4670664"/>
            <a:ext cx="889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760263" y="494269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9" name="Text 66"/>
          <p:cNvSpPr/>
          <p:nvPr/>
        </p:nvSpPr>
        <p:spPr>
          <a:xfrm>
            <a:off x="5836432" y="4670664"/>
            <a:ext cx="889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6802313" y="494269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1" name="Text 68"/>
          <p:cNvSpPr/>
          <p:nvPr/>
        </p:nvSpPr>
        <p:spPr>
          <a:xfrm>
            <a:off x="6878574" y="4670664"/>
            <a:ext cx="889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7844455" y="494269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3" name="Text 70"/>
          <p:cNvSpPr/>
          <p:nvPr/>
        </p:nvSpPr>
        <p:spPr>
          <a:xfrm>
            <a:off x="7920624" y="4670664"/>
            <a:ext cx="889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8886505" y="494269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5" name="Text 72"/>
          <p:cNvSpPr/>
          <p:nvPr/>
        </p:nvSpPr>
        <p:spPr>
          <a:xfrm>
            <a:off x="8962766" y="4670664"/>
            <a:ext cx="889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9928647" y="4942698"/>
            <a:ext cx="1263244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7" name="Text 74"/>
          <p:cNvSpPr/>
          <p:nvPr/>
        </p:nvSpPr>
        <p:spPr>
          <a:xfrm>
            <a:off x="10004816" y="4670664"/>
            <a:ext cx="1110813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1000171" y="5247559"/>
            <a:ext cx="267590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9" name="Shape 76"/>
          <p:cNvSpPr/>
          <p:nvPr/>
        </p:nvSpPr>
        <p:spPr>
          <a:xfrm>
            <a:off x="1076340" y="5077389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3987E5"/>
          </a:solidFill>
          <a:ln/>
        </p:spPr>
      </p:sp>
      <p:sp>
        <p:nvSpPr>
          <p:cNvPr id="80" name="Text 77"/>
          <p:cNvSpPr/>
          <p:nvPr/>
        </p:nvSpPr>
        <p:spPr>
          <a:xfrm>
            <a:off x="1285921" y="5000396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275" dirty="0"/>
          </a:p>
        </p:txBody>
      </p:sp>
      <p:sp>
        <p:nvSpPr>
          <p:cNvPr id="81" name="Shape 78"/>
          <p:cNvSpPr/>
          <p:nvPr/>
        </p:nvSpPr>
        <p:spPr>
          <a:xfrm>
            <a:off x="3676071" y="52475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2" name="Text 79"/>
          <p:cNvSpPr/>
          <p:nvPr/>
        </p:nvSpPr>
        <p:spPr>
          <a:xfrm>
            <a:off x="3752240" y="50003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</a:t>
            </a:r>
            <a:endParaRPr lang="en-US" sz="1275" dirty="0"/>
          </a:p>
        </p:txBody>
      </p:sp>
      <p:sp>
        <p:nvSpPr>
          <p:cNvPr id="83" name="Shape 80"/>
          <p:cNvSpPr/>
          <p:nvPr/>
        </p:nvSpPr>
        <p:spPr>
          <a:xfrm>
            <a:off x="4718121" y="52475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4" name="Text 81"/>
          <p:cNvSpPr/>
          <p:nvPr/>
        </p:nvSpPr>
        <p:spPr>
          <a:xfrm>
            <a:off x="4794382" y="50003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</a:t>
            </a:r>
            <a:endParaRPr lang="en-US" sz="1275" dirty="0"/>
          </a:p>
        </p:txBody>
      </p:sp>
      <p:sp>
        <p:nvSpPr>
          <p:cNvPr id="85" name="Shape 82"/>
          <p:cNvSpPr/>
          <p:nvPr/>
        </p:nvSpPr>
        <p:spPr>
          <a:xfrm>
            <a:off x="5760263" y="52475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6" name="Text 83"/>
          <p:cNvSpPr/>
          <p:nvPr/>
        </p:nvSpPr>
        <p:spPr>
          <a:xfrm>
            <a:off x="5836432" y="50003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</a:t>
            </a:r>
            <a:endParaRPr lang="en-US" sz="1275" dirty="0"/>
          </a:p>
        </p:txBody>
      </p:sp>
      <p:sp>
        <p:nvSpPr>
          <p:cNvPr id="87" name="Shape 84"/>
          <p:cNvSpPr/>
          <p:nvPr/>
        </p:nvSpPr>
        <p:spPr>
          <a:xfrm>
            <a:off x="6802313" y="52475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8" name="Text 85"/>
          <p:cNvSpPr/>
          <p:nvPr/>
        </p:nvSpPr>
        <p:spPr>
          <a:xfrm>
            <a:off x="6878574" y="50003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</a:t>
            </a:r>
            <a:endParaRPr lang="en-US" sz="1275" dirty="0"/>
          </a:p>
        </p:txBody>
      </p:sp>
      <p:sp>
        <p:nvSpPr>
          <p:cNvPr id="89" name="Shape 86"/>
          <p:cNvSpPr/>
          <p:nvPr/>
        </p:nvSpPr>
        <p:spPr>
          <a:xfrm>
            <a:off x="7844455" y="52475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0" name="Text 87"/>
          <p:cNvSpPr/>
          <p:nvPr/>
        </p:nvSpPr>
        <p:spPr>
          <a:xfrm>
            <a:off x="7920624" y="50003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</a:t>
            </a:r>
            <a:endParaRPr lang="en-US" sz="1275" dirty="0"/>
          </a:p>
        </p:txBody>
      </p:sp>
      <p:sp>
        <p:nvSpPr>
          <p:cNvPr id="91" name="Shape 88"/>
          <p:cNvSpPr/>
          <p:nvPr/>
        </p:nvSpPr>
        <p:spPr>
          <a:xfrm>
            <a:off x="8886505" y="52475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2" name="Text 89"/>
          <p:cNvSpPr/>
          <p:nvPr/>
        </p:nvSpPr>
        <p:spPr>
          <a:xfrm>
            <a:off x="8962766" y="50003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</a:t>
            </a:r>
            <a:endParaRPr lang="en-US" sz="1275" dirty="0"/>
          </a:p>
        </p:txBody>
      </p:sp>
      <p:sp>
        <p:nvSpPr>
          <p:cNvPr id="93" name="Shape 90"/>
          <p:cNvSpPr/>
          <p:nvPr/>
        </p:nvSpPr>
        <p:spPr>
          <a:xfrm>
            <a:off x="9928647" y="5247559"/>
            <a:ext cx="1263244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4" name="Text 91"/>
          <p:cNvSpPr/>
          <p:nvPr/>
        </p:nvSpPr>
        <p:spPr>
          <a:xfrm>
            <a:off x="10004816" y="5000396"/>
            <a:ext cx="111081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</a:t>
            </a:r>
            <a:endParaRPr lang="en-US" sz="1275" dirty="0"/>
          </a:p>
        </p:txBody>
      </p:sp>
      <p:sp>
        <p:nvSpPr>
          <p:cNvPr id="95" name="Shape 92"/>
          <p:cNvSpPr/>
          <p:nvPr/>
        </p:nvSpPr>
        <p:spPr>
          <a:xfrm>
            <a:off x="1000171" y="5552328"/>
            <a:ext cx="267590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6" name="Shape 93"/>
          <p:cNvSpPr/>
          <p:nvPr/>
        </p:nvSpPr>
        <p:spPr>
          <a:xfrm>
            <a:off x="1076340" y="538225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D95926"/>
          </a:solidFill>
          <a:ln/>
        </p:spPr>
      </p:sp>
      <p:sp>
        <p:nvSpPr>
          <p:cNvPr id="97" name="Text 94"/>
          <p:cNvSpPr/>
          <p:nvPr/>
        </p:nvSpPr>
        <p:spPr>
          <a:xfrm>
            <a:off x="1285921" y="5305257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</a:t>
            </a:r>
            <a:endParaRPr lang="en-US" sz="1275" dirty="0"/>
          </a:p>
        </p:txBody>
      </p:sp>
      <p:sp>
        <p:nvSpPr>
          <p:cNvPr id="98" name="Shape 95"/>
          <p:cNvSpPr/>
          <p:nvPr/>
        </p:nvSpPr>
        <p:spPr>
          <a:xfrm>
            <a:off x="3676071" y="555232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9" name="Text 96"/>
          <p:cNvSpPr/>
          <p:nvPr/>
        </p:nvSpPr>
        <p:spPr>
          <a:xfrm>
            <a:off x="3752240" y="53052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00" name="Shape 97"/>
          <p:cNvSpPr/>
          <p:nvPr/>
        </p:nvSpPr>
        <p:spPr>
          <a:xfrm>
            <a:off x="4718121" y="555232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1" name="Text 98"/>
          <p:cNvSpPr/>
          <p:nvPr/>
        </p:nvSpPr>
        <p:spPr>
          <a:xfrm>
            <a:off x="4794382" y="53052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275" dirty="0"/>
          </a:p>
        </p:txBody>
      </p:sp>
      <p:sp>
        <p:nvSpPr>
          <p:cNvPr id="102" name="Shape 99"/>
          <p:cNvSpPr/>
          <p:nvPr/>
        </p:nvSpPr>
        <p:spPr>
          <a:xfrm>
            <a:off x="5760263" y="555232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3" name="Text 100"/>
          <p:cNvSpPr/>
          <p:nvPr/>
        </p:nvSpPr>
        <p:spPr>
          <a:xfrm>
            <a:off x="5836432" y="53052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</a:t>
            </a:r>
            <a:endParaRPr lang="en-US" sz="1275" dirty="0"/>
          </a:p>
        </p:txBody>
      </p:sp>
      <p:sp>
        <p:nvSpPr>
          <p:cNvPr id="104" name="Shape 101"/>
          <p:cNvSpPr/>
          <p:nvPr/>
        </p:nvSpPr>
        <p:spPr>
          <a:xfrm>
            <a:off x="6802313" y="555232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5" name="Text 102"/>
          <p:cNvSpPr/>
          <p:nvPr/>
        </p:nvSpPr>
        <p:spPr>
          <a:xfrm>
            <a:off x="6878574" y="53052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</a:t>
            </a:r>
            <a:endParaRPr lang="en-US" sz="1275" dirty="0"/>
          </a:p>
        </p:txBody>
      </p:sp>
      <p:sp>
        <p:nvSpPr>
          <p:cNvPr id="106" name="Shape 103"/>
          <p:cNvSpPr/>
          <p:nvPr/>
        </p:nvSpPr>
        <p:spPr>
          <a:xfrm>
            <a:off x="7844455" y="555232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7" name="Text 104"/>
          <p:cNvSpPr/>
          <p:nvPr/>
        </p:nvSpPr>
        <p:spPr>
          <a:xfrm>
            <a:off x="7920624" y="53052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</a:t>
            </a:r>
            <a:endParaRPr lang="en-US" sz="1275" dirty="0"/>
          </a:p>
        </p:txBody>
      </p:sp>
      <p:sp>
        <p:nvSpPr>
          <p:cNvPr id="108" name="Shape 105"/>
          <p:cNvSpPr/>
          <p:nvPr/>
        </p:nvSpPr>
        <p:spPr>
          <a:xfrm>
            <a:off x="8886505" y="555232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9" name="Text 106"/>
          <p:cNvSpPr/>
          <p:nvPr/>
        </p:nvSpPr>
        <p:spPr>
          <a:xfrm>
            <a:off x="8962766" y="53052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</a:t>
            </a:r>
            <a:endParaRPr lang="en-US" sz="1275" dirty="0"/>
          </a:p>
        </p:txBody>
      </p:sp>
      <p:sp>
        <p:nvSpPr>
          <p:cNvPr id="110" name="Shape 107"/>
          <p:cNvSpPr/>
          <p:nvPr/>
        </p:nvSpPr>
        <p:spPr>
          <a:xfrm>
            <a:off x="9928647" y="5552328"/>
            <a:ext cx="1263244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1" name="Text 108"/>
          <p:cNvSpPr/>
          <p:nvPr/>
        </p:nvSpPr>
        <p:spPr>
          <a:xfrm>
            <a:off x="10004816" y="5305257"/>
            <a:ext cx="111081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</a:t>
            </a:r>
            <a:endParaRPr lang="en-US" sz="1275" dirty="0"/>
          </a:p>
        </p:txBody>
      </p:sp>
      <p:sp>
        <p:nvSpPr>
          <p:cNvPr id="112" name="Shape 109"/>
          <p:cNvSpPr/>
          <p:nvPr/>
        </p:nvSpPr>
        <p:spPr>
          <a:xfrm>
            <a:off x="1000171" y="5857098"/>
            <a:ext cx="267590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3" name="Shape 110"/>
          <p:cNvSpPr/>
          <p:nvPr/>
        </p:nvSpPr>
        <p:spPr>
          <a:xfrm>
            <a:off x="1076340" y="5687019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199E70"/>
          </a:solidFill>
          <a:ln/>
        </p:spPr>
      </p:sp>
      <p:sp>
        <p:nvSpPr>
          <p:cNvPr id="114" name="Text 111"/>
          <p:cNvSpPr/>
          <p:nvPr/>
        </p:nvSpPr>
        <p:spPr>
          <a:xfrm>
            <a:off x="1285921" y="5610027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</a:t>
            </a:r>
            <a:endParaRPr lang="en-US" sz="1275" dirty="0"/>
          </a:p>
        </p:txBody>
      </p:sp>
      <p:sp>
        <p:nvSpPr>
          <p:cNvPr id="115" name="Shape 112"/>
          <p:cNvSpPr/>
          <p:nvPr/>
        </p:nvSpPr>
        <p:spPr>
          <a:xfrm>
            <a:off x="3676071" y="585709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6" name="Text 113"/>
          <p:cNvSpPr/>
          <p:nvPr/>
        </p:nvSpPr>
        <p:spPr>
          <a:xfrm>
            <a:off x="3752240" y="561002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17" name="Shape 114"/>
          <p:cNvSpPr/>
          <p:nvPr/>
        </p:nvSpPr>
        <p:spPr>
          <a:xfrm>
            <a:off x="4718121" y="585709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8" name="Text 115"/>
          <p:cNvSpPr/>
          <p:nvPr/>
        </p:nvSpPr>
        <p:spPr>
          <a:xfrm>
            <a:off x="4794382" y="561002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</a:t>
            </a:r>
            <a:endParaRPr lang="en-US" sz="1275" dirty="0"/>
          </a:p>
        </p:txBody>
      </p:sp>
      <p:sp>
        <p:nvSpPr>
          <p:cNvPr id="119" name="Shape 116"/>
          <p:cNvSpPr/>
          <p:nvPr/>
        </p:nvSpPr>
        <p:spPr>
          <a:xfrm>
            <a:off x="5760263" y="585709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0" name="Text 117"/>
          <p:cNvSpPr/>
          <p:nvPr/>
        </p:nvSpPr>
        <p:spPr>
          <a:xfrm>
            <a:off x="5836432" y="561002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21" name="Shape 118"/>
          <p:cNvSpPr/>
          <p:nvPr/>
        </p:nvSpPr>
        <p:spPr>
          <a:xfrm>
            <a:off x="6802313" y="585709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2" name="Text 119"/>
          <p:cNvSpPr/>
          <p:nvPr/>
        </p:nvSpPr>
        <p:spPr>
          <a:xfrm>
            <a:off x="6878574" y="561002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</a:t>
            </a:r>
            <a:endParaRPr lang="en-US" sz="1275" dirty="0"/>
          </a:p>
        </p:txBody>
      </p:sp>
      <p:sp>
        <p:nvSpPr>
          <p:cNvPr id="123" name="Shape 120"/>
          <p:cNvSpPr/>
          <p:nvPr/>
        </p:nvSpPr>
        <p:spPr>
          <a:xfrm>
            <a:off x="7844455" y="585709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4" name="Text 121"/>
          <p:cNvSpPr/>
          <p:nvPr/>
        </p:nvSpPr>
        <p:spPr>
          <a:xfrm>
            <a:off x="7920624" y="561002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25" name="Shape 122"/>
          <p:cNvSpPr/>
          <p:nvPr/>
        </p:nvSpPr>
        <p:spPr>
          <a:xfrm>
            <a:off x="8886505" y="5857098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6" name="Text 123"/>
          <p:cNvSpPr/>
          <p:nvPr/>
        </p:nvSpPr>
        <p:spPr>
          <a:xfrm>
            <a:off x="8962766" y="561002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27" name="Shape 124"/>
          <p:cNvSpPr/>
          <p:nvPr/>
        </p:nvSpPr>
        <p:spPr>
          <a:xfrm>
            <a:off x="9928647" y="5857098"/>
            <a:ext cx="1263244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8" name="Text 125"/>
          <p:cNvSpPr/>
          <p:nvPr/>
        </p:nvSpPr>
        <p:spPr>
          <a:xfrm>
            <a:off x="10004816" y="5610027"/>
            <a:ext cx="111081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</a:t>
            </a:r>
            <a:endParaRPr lang="en-US" sz="1275" dirty="0"/>
          </a:p>
        </p:txBody>
      </p:sp>
      <p:sp>
        <p:nvSpPr>
          <p:cNvPr id="129" name="Shape 126"/>
          <p:cNvSpPr/>
          <p:nvPr/>
        </p:nvSpPr>
        <p:spPr>
          <a:xfrm>
            <a:off x="1000171" y="6161959"/>
            <a:ext cx="267590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76340" y="5991789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98500"/>
          </a:solidFill>
          <a:ln/>
        </p:spPr>
      </p:sp>
      <p:sp>
        <p:nvSpPr>
          <p:cNvPr id="131" name="Text 128"/>
          <p:cNvSpPr/>
          <p:nvPr/>
        </p:nvSpPr>
        <p:spPr>
          <a:xfrm>
            <a:off x="1285921" y="5914796"/>
            <a:ext cx="64767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직접영업</a:t>
            </a:r>
            <a:endParaRPr lang="en-US" sz="1275" dirty="0"/>
          </a:p>
        </p:txBody>
      </p:sp>
      <p:sp>
        <p:nvSpPr>
          <p:cNvPr id="132" name="Shape 129"/>
          <p:cNvSpPr/>
          <p:nvPr/>
        </p:nvSpPr>
        <p:spPr>
          <a:xfrm>
            <a:off x="3676071" y="61619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3" name="Text 130"/>
          <p:cNvSpPr/>
          <p:nvPr/>
        </p:nvSpPr>
        <p:spPr>
          <a:xfrm>
            <a:off x="3752240" y="59147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  <a:endParaRPr lang="en-US" sz="1275" dirty="0"/>
          </a:p>
        </p:txBody>
      </p:sp>
      <p:sp>
        <p:nvSpPr>
          <p:cNvPr id="134" name="Shape 131"/>
          <p:cNvSpPr/>
          <p:nvPr/>
        </p:nvSpPr>
        <p:spPr>
          <a:xfrm>
            <a:off x="4718121" y="61619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5" name="Text 132"/>
          <p:cNvSpPr/>
          <p:nvPr/>
        </p:nvSpPr>
        <p:spPr>
          <a:xfrm>
            <a:off x="4794382" y="59147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  <a:endParaRPr lang="en-US" sz="1275" dirty="0"/>
          </a:p>
        </p:txBody>
      </p:sp>
      <p:sp>
        <p:nvSpPr>
          <p:cNvPr id="136" name="Shape 133"/>
          <p:cNvSpPr/>
          <p:nvPr/>
        </p:nvSpPr>
        <p:spPr>
          <a:xfrm>
            <a:off x="5760263" y="61619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7" name="Text 134"/>
          <p:cNvSpPr/>
          <p:nvPr/>
        </p:nvSpPr>
        <p:spPr>
          <a:xfrm>
            <a:off x="5836432" y="59147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275" dirty="0"/>
          </a:p>
        </p:txBody>
      </p:sp>
      <p:sp>
        <p:nvSpPr>
          <p:cNvPr id="138" name="Shape 135"/>
          <p:cNvSpPr/>
          <p:nvPr/>
        </p:nvSpPr>
        <p:spPr>
          <a:xfrm>
            <a:off x="6802313" y="61619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9" name="Text 136"/>
          <p:cNvSpPr/>
          <p:nvPr/>
        </p:nvSpPr>
        <p:spPr>
          <a:xfrm>
            <a:off x="6878574" y="59147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275" dirty="0"/>
          </a:p>
        </p:txBody>
      </p:sp>
      <p:sp>
        <p:nvSpPr>
          <p:cNvPr id="140" name="Shape 137"/>
          <p:cNvSpPr/>
          <p:nvPr/>
        </p:nvSpPr>
        <p:spPr>
          <a:xfrm>
            <a:off x="7844455" y="61619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1" name="Text 138"/>
          <p:cNvSpPr/>
          <p:nvPr/>
        </p:nvSpPr>
        <p:spPr>
          <a:xfrm>
            <a:off x="7920624" y="59147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42" name="Shape 139"/>
          <p:cNvSpPr/>
          <p:nvPr/>
        </p:nvSpPr>
        <p:spPr>
          <a:xfrm>
            <a:off x="8886505" y="6161959"/>
            <a:ext cx="104205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3" name="Text 140"/>
          <p:cNvSpPr/>
          <p:nvPr/>
        </p:nvSpPr>
        <p:spPr>
          <a:xfrm>
            <a:off x="8962766" y="5914796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44" name="Shape 141"/>
          <p:cNvSpPr/>
          <p:nvPr/>
        </p:nvSpPr>
        <p:spPr>
          <a:xfrm>
            <a:off x="9928647" y="6161959"/>
            <a:ext cx="1263244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5" name="Text 142"/>
          <p:cNvSpPr/>
          <p:nvPr/>
        </p:nvSpPr>
        <p:spPr>
          <a:xfrm>
            <a:off x="10004816" y="5914796"/>
            <a:ext cx="111081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</a:t>
            </a:r>
            <a:endParaRPr lang="en-US" sz="1275" dirty="0"/>
          </a:p>
        </p:txBody>
      </p:sp>
      <p:sp>
        <p:nvSpPr>
          <p:cNvPr id="146" name="Shape 143"/>
          <p:cNvSpPr/>
          <p:nvPr/>
        </p:nvSpPr>
        <p:spPr>
          <a:xfrm>
            <a:off x="1000171" y="6171468"/>
            <a:ext cx="267590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47" name="Text 144"/>
          <p:cNvSpPr/>
          <p:nvPr/>
        </p:nvSpPr>
        <p:spPr>
          <a:xfrm>
            <a:off x="1076340" y="6219657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275" dirty="0"/>
          </a:p>
        </p:txBody>
      </p:sp>
      <p:sp>
        <p:nvSpPr>
          <p:cNvPr id="148" name="Shape 145"/>
          <p:cNvSpPr/>
          <p:nvPr/>
        </p:nvSpPr>
        <p:spPr>
          <a:xfrm>
            <a:off x="3676071" y="617146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49" name="Text 146"/>
          <p:cNvSpPr/>
          <p:nvPr/>
        </p:nvSpPr>
        <p:spPr>
          <a:xfrm>
            <a:off x="3752240" y="62196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275" dirty="0"/>
          </a:p>
        </p:txBody>
      </p:sp>
      <p:sp>
        <p:nvSpPr>
          <p:cNvPr id="150" name="Shape 147"/>
          <p:cNvSpPr/>
          <p:nvPr/>
        </p:nvSpPr>
        <p:spPr>
          <a:xfrm>
            <a:off x="4718121" y="617146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1" name="Text 148"/>
          <p:cNvSpPr/>
          <p:nvPr/>
        </p:nvSpPr>
        <p:spPr>
          <a:xfrm>
            <a:off x="4794382" y="62196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275" dirty="0"/>
          </a:p>
        </p:txBody>
      </p:sp>
      <p:sp>
        <p:nvSpPr>
          <p:cNvPr id="152" name="Shape 149"/>
          <p:cNvSpPr/>
          <p:nvPr/>
        </p:nvSpPr>
        <p:spPr>
          <a:xfrm>
            <a:off x="5760263" y="617146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3" name="Text 150"/>
          <p:cNvSpPr/>
          <p:nvPr/>
        </p:nvSpPr>
        <p:spPr>
          <a:xfrm>
            <a:off x="5836432" y="62196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</a:t>
            </a:r>
            <a:endParaRPr lang="en-US" sz="1275" dirty="0"/>
          </a:p>
        </p:txBody>
      </p:sp>
      <p:sp>
        <p:nvSpPr>
          <p:cNvPr id="154" name="Shape 151"/>
          <p:cNvSpPr/>
          <p:nvPr/>
        </p:nvSpPr>
        <p:spPr>
          <a:xfrm>
            <a:off x="6802313" y="617146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5" name="Text 152"/>
          <p:cNvSpPr/>
          <p:nvPr/>
        </p:nvSpPr>
        <p:spPr>
          <a:xfrm>
            <a:off x="6878574" y="62196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275" dirty="0"/>
          </a:p>
        </p:txBody>
      </p:sp>
      <p:sp>
        <p:nvSpPr>
          <p:cNvPr id="156" name="Shape 153"/>
          <p:cNvSpPr/>
          <p:nvPr/>
        </p:nvSpPr>
        <p:spPr>
          <a:xfrm>
            <a:off x="7844455" y="617146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7" name="Text 154"/>
          <p:cNvSpPr/>
          <p:nvPr/>
        </p:nvSpPr>
        <p:spPr>
          <a:xfrm>
            <a:off x="7920624" y="62196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</a:t>
            </a:r>
            <a:endParaRPr lang="en-US" sz="1275" dirty="0"/>
          </a:p>
        </p:txBody>
      </p:sp>
      <p:sp>
        <p:nvSpPr>
          <p:cNvPr id="158" name="Shape 155"/>
          <p:cNvSpPr/>
          <p:nvPr/>
        </p:nvSpPr>
        <p:spPr>
          <a:xfrm>
            <a:off x="8886505" y="6171468"/>
            <a:ext cx="1042050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9" name="Text 156"/>
          <p:cNvSpPr/>
          <p:nvPr/>
        </p:nvSpPr>
        <p:spPr>
          <a:xfrm>
            <a:off x="8962766" y="6219657"/>
            <a:ext cx="88971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275" dirty="0"/>
          </a:p>
        </p:txBody>
      </p:sp>
      <p:sp>
        <p:nvSpPr>
          <p:cNvPr id="160" name="Shape 157"/>
          <p:cNvSpPr/>
          <p:nvPr/>
        </p:nvSpPr>
        <p:spPr>
          <a:xfrm>
            <a:off x="9928647" y="6171468"/>
            <a:ext cx="1263244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61" name="Text 158"/>
          <p:cNvSpPr/>
          <p:nvPr/>
        </p:nvSpPr>
        <p:spPr>
          <a:xfrm>
            <a:off x="10004816" y="6219657"/>
            <a:ext cx="111081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24.0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94375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1970" y="876270"/>
            <a:ext cx="535481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로드맵과 변환 파이프라인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 rot="21120000">
            <a:off x="9921606" y="666780"/>
            <a:ext cx="1432133" cy="514350"/>
          </a:xfrm>
          <a:prstGeom prst="roundRect">
            <a:avLst>
              <a:gd name="adj" fmla="val 18524"/>
            </a:avLst>
          </a:prstGeom>
          <a:ln w="28575">
            <a:solidFill>
              <a:srgbClr val="0CA30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21120000">
            <a:off x="10140696" y="784464"/>
            <a:ext cx="99404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50" kern="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완료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828800" y="2084009"/>
            <a:ext cx="8534370" cy="1902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8" name="Text 5"/>
          <p:cNvSpPr/>
          <p:nvPr/>
        </p:nvSpPr>
        <p:spPr>
          <a:xfrm>
            <a:off x="761970" y="2399203"/>
            <a:ext cx="198123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1970" y="2679558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42950" y="3071561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모델과 12열 그리드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33670" y="2399203"/>
            <a:ext cx="198123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말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33670" y="2679558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2914650" y="3071561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1280×720 템플릿 기반 슬라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이드 작성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05370" y="2399203"/>
            <a:ext cx="198123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중순 · 진행 중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05370" y="2679558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5086350" y="3071561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미리보기로 겹침과 넘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 점검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77070" y="2399203"/>
            <a:ext cx="198123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77070" y="2679558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258050" y="3071561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build_pptx로 네이티브 PPTX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448770" y="2399203"/>
            <a:ext cx="198123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48770" y="2679558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9429750" y="3071561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PowerPoint에서 최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확인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61970" y="4754880"/>
            <a:ext cx="10668030" cy="1569659"/>
          </a:xfrm>
          <a:prstGeom prst="roundRect">
            <a:avLst>
              <a:gd name="adj" fmla="val 9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0171" y="4965283"/>
            <a:ext cx="83228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00171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0487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시안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279084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3133740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3853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렌더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92441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5267310" y="5362590"/>
            <a:ext cx="1657350" cy="742950"/>
          </a:xfrm>
          <a:prstGeom prst="roundRect">
            <a:avLst>
              <a:gd name="adj" fmla="val 15385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53080" y="5511820"/>
            <a:ext cx="148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 레이아웃 추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058071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7400971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0567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pptxgenjs 생성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919164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7" name="Shape 34"/>
          <p:cNvSpPr/>
          <p:nvPr/>
        </p:nvSpPr>
        <p:spPr>
          <a:xfrm>
            <a:off x="9534540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3933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590690" y="1931670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609710" y="1966692"/>
            <a:ext cx="28575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762390" y="1931670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781410" y="1966692"/>
            <a:ext cx="28575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934090" y="1931670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53110" y="1966692"/>
            <a:ext cx="28575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3987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105790" y="1931670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8383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24810" y="1966692"/>
            <a:ext cx="28575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10277490" y="1931670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8383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296510" y="1966692"/>
            <a:ext cx="28575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1081369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1970" y="876270"/>
            <a:ext cx="407785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명령과 체크리스트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1970" y="1550640"/>
            <a:ext cx="5715000" cy="4791639"/>
          </a:xfrm>
          <a:prstGeom prst="roundRect">
            <a:avLst>
              <a:gd name="adj" fmla="val 3181"/>
            </a:avLst>
          </a:prstGeom>
          <a:solidFill>
            <a:srgbClr val="111110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1571" y="1560149"/>
            <a:ext cx="5695980" cy="438180"/>
          </a:xfrm>
          <a:custGeom>
            <a:avLst/>
            <a:gdLst/>
            <a:ahLst/>
            <a:cxnLst/>
            <a:rect l="l" t="t" r="r" b="b"/>
            <a:pathLst>
              <a:path w="5695980" h="438180">
                <a:moveTo>
                  <a:pt x="152430" y="0"/>
                </a:moveTo>
                <a:lnTo>
                  <a:pt x="5543550" y="0"/>
                </a:lnTo>
                <a:arcTo hR="152430" wR="152430" stAng="16200000" swAng="5400000"/>
                <a:lnTo>
                  <a:pt x="5695980" y="438180"/>
                </a:lnTo>
                <a:lnTo>
                  <a:pt x="0" y="438180"/>
                </a:lnTo>
                <a:lnTo>
                  <a:pt x="0" y="152430"/>
                </a:lnTo>
                <a:arcTo hR="152430" wR="152430" stAng="10800000" swAng="5400000"/>
                <a:close/>
              </a:path>
            </a:pathLst>
          </a:custGeom>
          <a:solidFill>
            <a:srgbClr val="1A1A19"/>
          </a:solidFill>
          <a:ln/>
        </p:spPr>
      </p:sp>
      <p:sp>
        <p:nvSpPr>
          <p:cNvPr id="7" name="Shape 4"/>
          <p:cNvSpPr/>
          <p:nvPr/>
        </p:nvSpPr>
        <p:spPr>
          <a:xfrm>
            <a:off x="771571" y="1988820"/>
            <a:ext cx="5695980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23910" y="1717335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9" name="Shape 6"/>
          <p:cNvSpPr/>
          <p:nvPr/>
        </p:nvSpPr>
        <p:spPr>
          <a:xfrm>
            <a:off x="1114471" y="1717335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10" name="Shape 7"/>
          <p:cNvSpPr/>
          <p:nvPr/>
        </p:nvSpPr>
        <p:spPr>
          <a:xfrm>
            <a:off x="1304940" y="1717335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11" name="Text 8"/>
          <p:cNvSpPr/>
          <p:nvPr/>
        </p:nvSpPr>
        <p:spPr>
          <a:xfrm>
            <a:off x="1590690" y="1673809"/>
            <a:ext cx="131381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terminal · html-ppt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0171" y="2222175"/>
            <a:ext cx="5276820" cy="3190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1) Preview: one PNG per slide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.claude/skills/html-ppt/scripts/preview.mjs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preview/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2) Export native PPTX with fixed line breaks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.claude/skills/html-ppt/scripts/build_pptx.mjs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out.pptx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--hard-wrap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3) Remap fonts that are not installed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.claude/skills/html-ppt/scripts/build_pptx.mjs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out.pptx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--font-map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"Pretendard=Malgun Gothic"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81830" y="2148657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" name="Shape 11"/>
          <p:cNvSpPr/>
          <p:nvPr/>
        </p:nvSpPr>
        <p:spPr>
          <a:xfrm>
            <a:off x="6781830" y="1706728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67510" y="1738640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19920" y="1599011"/>
            <a:ext cx="12544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런 · 목록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219920" y="1853032"/>
            <a:ext cx="2195474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텍스트 상자로 서식 유지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81830" y="2756184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9" name="Shape 16"/>
          <p:cNvSpPr/>
          <p:nvPr/>
        </p:nvSpPr>
        <p:spPr>
          <a:xfrm>
            <a:off x="6781830" y="2314255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67510" y="2346168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219920" y="2206539"/>
            <a:ext cx="11303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· flex · grid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219920" y="2460559"/>
            <a:ext cx="183712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렌더링된 좌표 그대로 배치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781830" y="3363620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4" name="Shape 21"/>
          <p:cNvSpPr/>
          <p:nvPr/>
        </p:nvSpPr>
        <p:spPr>
          <a:xfrm>
            <a:off x="6781830" y="2921782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67510" y="2953695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19920" y="2814066"/>
            <a:ext cx="15371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· 그림자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219920" y="3068086"/>
            <a:ext cx="214189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채우기와 바깥 그림자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81830" y="3971148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9" name="Shape 26"/>
          <p:cNvSpPr/>
          <p:nvPr/>
        </p:nvSpPr>
        <p:spPr>
          <a:xfrm>
            <a:off x="6781830" y="3529310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67510" y="3561131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219920" y="3421593"/>
            <a:ext cx="10121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· 캔버스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219920" y="3675614"/>
            <a:ext cx="1718798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SVG 또는 2x 이미지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781830" y="4578675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34" name="Shape 31"/>
          <p:cNvSpPr/>
          <p:nvPr/>
        </p:nvSpPr>
        <p:spPr>
          <a:xfrm>
            <a:off x="6781830" y="4136837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510" y="4168658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219920" y="4029029"/>
            <a:ext cx="8513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· 확대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7219920" y="4283141"/>
            <a:ext cx="2347905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도형과 텍스트까지 함께 변환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781830" y="5186202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39" name="Shape 36"/>
          <p:cNvSpPr/>
          <p:nvPr/>
        </p:nvSpPr>
        <p:spPr>
          <a:xfrm>
            <a:off x="6781830" y="4744364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99971" y="4776186"/>
            <a:ext cx="4928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219920" y="4636557"/>
            <a:ext cx="14259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· 블렌드 모드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7219920" y="4890668"/>
            <a:ext cx="198955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그림으로 저장되어 편집 불가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781830" y="5406024"/>
            <a:ext cx="2209830" cy="93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표, 도형, 그라디언트는 편집 가능한 개체가 됩니다. 필터와 블렌드 모드, 배경 클립 텍스트는 그림으로 저장됩니다.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258300" y="5406024"/>
            <a:ext cx="2209830" cy="93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다단(column-count)은 단마다 텍스트 상자 하나로 나뉘므로, 본문은 가능하면 일반 흐름으로 쓰세요.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3540008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 · REQUESTANIMATIONFRAME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1970" y="876270"/>
            <a:ext cx="511771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흐름장 — 실시간 렌더링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205173" y="1052474"/>
            <a:ext cx="22248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 난수 · 잔상 페이드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550640"/>
            <a:ext cx="6667530" cy="419097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96230" y="1550640"/>
            <a:ext cx="3733770" cy="4773991"/>
          </a:xfrm>
          <a:prstGeom prst="roundRect">
            <a:avLst>
              <a:gd name="adj" fmla="val 408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34340" y="1765889"/>
            <a:ext cx="54278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수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7934340" y="2054657"/>
            <a:ext cx="728777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7934340" y="2894899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속도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7934340" y="3183666"/>
            <a:ext cx="1245504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fps</a:t>
            </a:r>
            <a:endParaRPr lang="en-US" sz="3300" dirty="0"/>
          </a:p>
        </p:txBody>
      </p:sp>
      <p:sp>
        <p:nvSpPr>
          <p:cNvPr id="12" name="Text 8"/>
          <p:cNvSpPr/>
          <p:nvPr/>
        </p:nvSpPr>
        <p:spPr>
          <a:xfrm>
            <a:off x="7934340" y="4023909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간격</a:t>
            </a:r>
            <a:endParaRPr lang="en-US" sz="1275" dirty="0"/>
          </a:p>
        </p:txBody>
      </p:sp>
      <p:sp>
        <p:nvSpPr>
          <p:cNvPr id="13" name="Text 9"/>
          <p:cNvSpPr/>
          <p:nvPr/>
        </p:nvSpPr>
        <p:spPr>
          <a:xfrm>
            <a:off x="7934340" y="4312676"/>
            <a:ext cx="156645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16.7</a:t>
            </a:r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ms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7934340" y="5288432"/>
            <a:ext cx="3295680" cy="44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캔버스는 변환 시 현재 프레임이 2x 이미지로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945398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1970" y="876270"/>
            <a:ext cx="76197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1970" y="1550640"/>
            <a:ext cx="3403580" cy="2271370"/>
          </a:xfrm>
          <a:prstGeom prst="roundRect">
            <a:avLst>
              <a:gd name="adj" fmla="val 6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0171" y="1767078"/>
            <a:ext cx="4953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000171" y="2662093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" name="Text 5"/>
          <p:cNvSpPr/>
          <p:nvPr/>
        </p:nvSpPr>
        <p:spPr>
          <a:xfrm>
            <a:off x="1000171" y="2297339"/>
            <a:ext cx="23372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HTML · 외부 의존성 없음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0171" y="3127797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" name="Text 7"/>
          <p:cNvSpPr/>
          <p:nvPr/>
        </p:nvSpPr>
        <p:spPr>
          <a:xfrm>
            <a:off x="1000171" y="2762951"/>
            <a:ext cx="25891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section.slide 1280×720 고정 크기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00171" y="3593501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" name="Text 9"/>
          <p:cNvSpPr/>
          <p:nvPr/>
        </p:nvSpPr>
        <p:spPr>
          <a:xfrm>
            <a:off x="1000171" y="3228655"/>
            <a:ext cx="2487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:root 토큰으로 역할별 관리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94149" y="1550640"/>
            <a:ext cx="3403580" cy="2271370"/>
          </a:xfrm>
          <a:prstGeom prst="roundRect">
            <a:avLst>
              <a:gd name="adj" fmla="val 6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2259" y="1767078"/>
            <a:ext cx="7429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4632259" y="2662093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6" name="Text 13"/>
          <p:cNvSpPr/>
          <p:nvPr/>
        </p:nvSpPr>
        <p:spPr>
          <a:xfrm>
            <a:off x="4632259" y="2297339"/>
            <a:ext cx="2788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차트는 데이터 배열에서 SVG로 생성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632259" y="3127797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8" name="Text 15"/>
          <p:cNvSpPr/>
          <p:nvPr/>
        </p:nvSpPr>
        <p:spPr>
          <a:xfrm>
            <a:off x="4632259" y="2762951"/>
            <a:ext cx="21270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차트마다 표 뷰를 함께 배치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632259" y="3593501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0" name="Text 17"/>
          <p:cNvSpPr/>
          <p:nvPr/>
        </p:nvSpPr>
        <p:spPr>
          <a:xfrm>
            <a:off x="4632259" y="3228655"/>
            <a:ext cx="29106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툴팁은 보조 수단, 값은 표에서도 확인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026329" y="1550640"/>
            <a:ext cx="3403671" cy="2271370"/>
          </a:xfrm>
          <a:prstGeom prst="roundRect">
            <a:avLst>
              <a:gd name="adj" fmla="val 6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64439" y="1767078"/>
            <a:ext cx="4953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8264439" y="2662093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4" name="Text 21"/>
          <p:cNvSpPr/>
          <p:nvPr/>
        </p:nvSpPr>
        <p:spPr>
          <a:xfrm>
            <a:off x="8264439" y="2297339"/>
            <a:ext cx="25873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텍스트·표·그라디언트 → 네이티브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264439" y="3127797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6" name="Text 23"/>
          <p:cNvSpPr/>
          <p:nvPr/>
        </p:nvSpPr>
        <p:spPr>
          <a:xfrm>
            <a:off x="8264439" y="2762951"/>
            <a:ext cx="27088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SVG·캔버스 → 벡터 또는 2x 이미지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8264439" y="3593501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8" name="Text 25"/>
          <p:cNvSpPr/>
          <p:nvPr/>
        </p:nvSpPr>
        <p:spPr>
          <a:xfrm>
            <a:off x="8264439" y="3228655"/>
            <a:ext cx="26704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필터·블렌드 모드 → 그림으로 저장</a:t>
            </a:r>
            <a:endParaRPr lang="en-US" sz="1350" dirty="0"/>
          </a:p>
        </p:txBody>
      </p:sp>
      <p:sp>
        <p:nvSpPr>
          <p:cNvPr id="29" name="hp4"/>
          <p:cNvSpPr/>
          <p:nvPr/>
        </p:nvSpPr>
        <p:spPr>
          <a:xfrm>
            <a:off x="761970" y="5204216"/>
            <a:ext cx="3902568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4200" b="1" dirty="0">
                <a:gradFill rotWithShape="1">
                  <a:gsLst>
                    <a:gs pos="0">
                      <a:srgbClr val="3987E5"/>
                    </a:gs>
                    <a:gs pos="60000">
                      <a:srgbClr val="D95926"/>
                    </a:gs>
                    <a:gs pos="100000">
                      <a:srgbClr val="C98500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파일, 여덟 장</a:t>
            </a:r>
            <a:endParaRPr lang="en-US" sz="4200" dirty="0"/>
          </a:p>
        </p:txBody>
      </p:sp>
      <p:sp>
        <p:nvSpPr>
          <p:cNvPr id="30" name="Text 27"/>
          <p:cNvSpPr/>
          <p:nvPr/>
        </p:nvSpPr>
        <p:spPr>
          <a:xfrm>
            <a:off x="761970" y="6055065"/>
            <a:ext cx="45608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데이터 · 데모용 · 표시된 모든 수치는 가상의 값입니다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2026-10-22T14:05:20Z</dcterms:created>
  <dcterms:modified xsi:type="dcterms:W3CDTF">2026-10-22T14:05:20Z</dcterms:modified>
</cp:coreProperties>
</file>